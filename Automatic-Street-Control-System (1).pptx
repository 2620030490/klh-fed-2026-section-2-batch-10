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Atkinson Hyperlegible Next"/>
      <p:regular r:id="rId201314"/>
    </p:embeddedFont>
    <p:embeddedFont>
      <p:font typeface="Atkinson Hyperlegible Next SemiBold"/>
      <p:regular r:id="rId201315"/>
    </p:embeddedFont>
    <p:embeddedFont>
      <p:font typeface="Atkinson Hyperlegible Next Bold"/>
      <p:regular r:id="rId201316"/>
    </p:embeddedFont>
    <p:embeddedFont>
      <p:font typeface="Fragment Mono"/>
      <p:regular r:id="rId201317"/>
    </p:embeddedFont>
    <p:embeddedFont>
      <p:font typeface="Sofia Sans Condensed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simple automatic control system. The central idea is to sense the surrounding light and use that information to control a street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everyday problem. A manually controlled street light can stay on when it is bright, or remain off when people need it. The project replaces repeated checking with a sensor-based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system from left to right. The LDR senses, the resistor network sets the condition, the switching device decides what to drive, and the LED or lamp shows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LDR in simple terms. More light lowers its resistance. Less light raises its resistance. The surrounding circuit converts that change into a condition that the control section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left side to explain the signal path. On the right, point out the LDR and resistor divider, the threshold device, the LED load, the power supply, and ground. This is a functional example, not a claim about one fixed component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sequence in order. In bright conditions the decision is OFF. In dark conditions the decision is ON. Emphasize that the threshold is set by the physical circuit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physical sensor from the simplified digital model. D equals zero for bright and one for dark. L equals zero for OFF and one for ON. Because the output follows the input, the Boolean expression is L equals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simulation as a verification of the logic relationship. The input switch represents D and the output LED represents L. Logisim confirms the binary mapping, but it does not model the analog resistance behaviour of the real LDR.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classroom model to real spaces. The system demonstrates a simple control mechanism that reduces manual effort and avoids unnecessary daytime lighting. More sensors can extend the same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complete chain: sensing, control, switching, and lighting. The project is a foundation. Future versions can add solar power, motion sensing, remote monitoring, and automatic brightness adjustment.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&#65279;<?xml version="1.0" encoding="UTF-8" standalone="yes"?>
<Relationships xmlns="http://schemas.openxmlformats.org/package/2006/relationships">
  <Relationship Id="rId1" Type="http://schemas.openxmlformats.org/officeDocument/2006/relationships/image" Target="../media/image-1002-1.jpeg" />
  <Relationship Id="rId4" Type="http://schemas.openxmlformats.org/officeDocument/2006/relationships/slideMaster" Target="../slideMasters/slideMaster1.xml" />
</Relationships>
</file>

<file path=ppt/slideLayouts/_rels/slideLayout3.xml.rels>&#65279;<?xml version="1.0" encoding="UTF-8" standalone="yes"?>
<Relationships xmlns="http://schemas.openxmlformats.org/package/2006/relationships">
  <Relationship Id="rId3" Type="http://schemas.openxmlformats.org/officeDocument/2006/relationships/slideMaster" Target="../slideMasters/slideMaster1.xml" />
</Relationships>
</file>

<file path=ppt/slideLayouts/_rels/slideLayout4.xml.rels>&#65279;<?xml version="1.0" encoding="UTF-8" standalone="yes"?>
<Relationships xmlns="http://schemas.openxmlformats.org/package/2006/relationships">
  <Relationship Id="rId1" Type="http://schemas.openxmlformats.org/officeDocument/2006/relationships/image" Target="../media/image-1004-1.jpeg" />
  <Relationship Id="rId4" Type="http://schemas.openxmlformats.org/officeDocument/2006/relationships/slideMaster" Target="../slideMasters/slideMaster1.xml" />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1131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11314"/>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11131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68331" y="2032198"/>
            <a:ext cx="8877078"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9DA6A8"/>
                </a:solidFill>
                <a:latin typeface="Fragment Mono" pitchFamily="34" charset="0"/>
                <a:ea typeface="Fragment Mono" pitchFamily="34" charset="-122"/>
                <a:cs typeface="Fragment Mono" pitchFamily="34" charset="-120"/>
              </a:rPr>
              <a:t>FIRST-YEAR B.TECH DDCA PROJECT</a:t>
            </a:r>
            <a:endParaRPr lang="en-US" sz="1200" dirty="0"/>
          </a:p>
        </p:txBody>
      </p:sp>
      <p:sp>
        <p:nvSpPr>
          <p:cNvPr id="3" name="Text 1"/>
          <p:cNvSpPr/>
          <p:nvPr/>
        </p:nvSpPr>
        <p:spPr>
          <a:xfrm>
            <a:off x="768331" y="2372856"/>
            <a:ext cx="8267493" cy="2026841"/>
          </a:xfrm>
          <a:prstGeom prst="rect">
            <a:avLst/>
          </a:prstGeom>
          <a:noFill/>
          <a:ln/>
        </p:spPr>
        <p:txBody>
          <a:bodyPr wrap="square" lIns="0" tIns="0" rIns="0" bIns="0" rtlCol="0" anchor="t">
            <a:normAutofit/>
          </a:bodyPr>
          <a:lstStyle/>
          <a:p>
            <a:pPr algn="l" indent="0" marL="0">
              <a:lnSpc>
                <a:spcPct val="79000"/>
              </a:lnSpc>
              <a:buNone/>
            </a:pPr>
            <a:r>
              <a:rPr lang="en-US" sz="8400" b="1" spc="-84" kern="100" dirty="0">
                <a:solidFill>
                  <a:srgbClr val="F1F3F3"/>
                </a:solidFill>
                <a:latin typeface="Sofia Sans Condensed Bold" pitchFamily="34" charset="0"/>
                <a:ea typeface="Sofia Sans Condensed Bold" pitchFamily="34" charset="-122"/>
                <a:cs typeface="Sofia Sans Condensed Bold" pitchFamily="34" charset="-120"/>
              </a:rPr>
              <a:t>Automatic Street</a:t>
            </a:r>
            <a:endParaRPr lang="en-US" sz="8400" dirty="0"/>
          </a:p>
          <a:p>
            <a:pPr algn="l" indent="0" marL="0">
              <a:lnSpc>
                <a:spcPct val="79000"/>
              </a:lnSpc>
              <a:buNone/>
            </a:pPr>
            <a:r>
              <a:rPr lang="en-US" sz="8400" b="1" spc="-84" kern="100" dirty="0">
                <a:solidFill>
                  <a:srgbClr val="F1F3F3"/>
                </a:solidFill>
                <a:latin typeface="Sofia Sans Condensed Bold" pitchFamily="34" charset="0"/>
                <a:ea typeface="Sofia Sans Condensed Bold" pitchFamily="34" charset="-122"/>
                <a:cs typeface="Sofia Sans Condensed Bold" pitchFamily="34" charset="-120"/>
              </a:rPr>
              <a:t>Control System</a:t>
            </a:r>
            <a:endParaRPr lang="en-US" sz="8400" dirty="0"/>
          </a:p>
        </p:txBody>
      </p:sp>
      <p:sp>
        <p:nvSpPr>
          <p:cNvPr id="4" name="Text 2"/>
          <p:cNvSpPr/>
          <p:nvPr/>
        </p:nvSpPr>
        <p:spPr>
          <a:xfrm>
            <a:off x="768331" y="4579243"/>
            <a:ext cx="8877078" cy="319980"/>
          </a:xfrm>
          <a:prstGeom prst="rect">
            <a:avLst/>
          </a:prstGeom>
          <a:noFill/>
          <a:ln/>
        </p:spPr>
        <p:txBody>
          <a:bodyPr wrap="none" lIns="0" tIns="0" rIns="0" bIns="0" rtlCol="0" anchor="t"/>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A sensor-based approach to automatic street-light operation.</a:t>
            </a:r>
            <a:endParaRPr lang="en-US" sz="1800" dirty="0"/>
          </a:p>
        </p:txBody>
      </p:sp>
      <p:sp>
        <p:nvSpPr>
          <p:cNvPr id="5" name="Text 3"/>
          <p:cNvSpPr/>
          <p:nvPr/>
        </p:nvSpPr>
        <p:spPr>
          <a:xfrm>
            <a:off x="768331" y="5108456"/>
            <a:ext cx="8267493" cy="990203"/>
          </a:xfrm>
          <a:prstGeom prst="rect">
            <a:avLst/>
          </a:prstGeom>
          <a:noFill/>
          <a:ln/>
        </p:spPr>
        <p:txBody>
          <a:bodyPr wrap="square" lIns="0" tIns="0" rIns="0" bIns="0" rtlCol="0" anchor="t">
            <a:normAutofit/>
          </a:bodyPr>
          <a:lstStyle/>
          <a:p>
            <a:pPr algn="l" indent="0" marL="0">
              <a:lnSpc>
                <a:spcPct val="108000"/>
              </a:lnSpc>
              <a:buNone/>
            </a:pPr>
            <a:r>
              <a:rPr lang="en-US" sz="1200" spc="96" kern="100" dirty="0">
                <a:solidFill>
                  <a:srgbClr val="DCE1E2"/>
                </a:solidFill>
                <a:latin typeface="Atkinson Hyperlegible Next" pitchFamily="34" charset="0"/>
                <a:ea typeface="Atkinson Hyperlegible Next" pitchFamily="34" charset="-122"/>
                <a:cs typeface="Atkinson Hyperlegible Next" pitchFamily="34" charset="-120"/>
              </a:rPr>
              <a:t>NAGA SAI VAISHNAVI C - 2620030490</a:t>
            </a:r>
            <a:endParaRPr lang="en-US" sz="1200" dirty="0"/>
          </a:p>
          <a:p>
            <a:pPr algn="l" indent="0" marL="0">
              <a:lnSpc>
                <a:spcPct val="108000"/>
              </a:lnSpc>
              <a:buNone/>
            </a:pPr>
            <a:r>
              <a:rPr lang="en-US" sz="1200" spc="96" kern="100" dirty="0">
                <a:solidFill>
                  <a:srgbClr val="DCE1E2"/>
                </a:solidFill>
                <a:latin typeface="Atkinson Hyperlegible Next" pitchFamily="34" charset="0"/>
                <a:ea typeface="Atkinson Hyperlegible Next" pitchFamily="34" charset="-122"/>
                <a:cs typeface="Atkinson Hyperlegible Next" pitchFamily="34" charset="-120"/>
              </a:rPr>
              <a:t>PUJITHA - 2620030515</a:t>
            </a:r>
            <a:endParaRPr lang="en-US" sz="1200" dirty="0"/>
          </a:p>
          <a:p>
            <a:pPr algn="l" indent="0" marL="0">
              <a:lnSpc>
                <a:spcPct val="108000"/>
              </a:lnSpc>
              <a:buNone/>
            </a:pPr>
            <a:r>
              <a:rPr lang="en-US" sz="1200" spc="96" kern="100" dirty="0">
                <a:solidFill>
                  <a:srgbClr val="DCE1E2"/>
                </a:solidFill>
                <a:latin typeface="Atkinson Hyperlegible Next" pitchFamily="34" charset="0"/>
                <a:ea typeface="Atkinson Hyperlegible Next" pitchFamily="34" charset="-122"/>
                <a:cs typeface="Atkinson Hyperlegible Next" pitchFamily="34" charset="-120"/>
              </a:rPr>
              <a:t>SIRI REDDY - 2620030562</a:t>
            </a:r>
            <a:endParaRPr lang="en-US" sz="1200" dirty="0"/>
          </a:p>
          <a:p>
            <a:pPr algn="l" indent="0" marL="0">
              <a:lnSpc>
                <a:spcPct val="108000"/>
              </a:lnSpc>
              <a:buNone/>
            </a:pPr>
            <a:r>
              <a:rPr lang="en-US" sz="1200" spc="96" kern="100" dirty="0">
                <a:solidFill>
                  <a:srgbClr val="DCE1E2"/>
                </a:solidFill>
                <a:latin typeface="Atkinson Hyperlegible Next" pitchFamily="34" charset="0"/>
                <a:ea typeface="Atkinson Hyperlegible Next" pitchFamily="34" charset="-122"/>
                <a:cs typeface="Atkinson Hyperlegible Next" pitchFamily="34" charset="-120"/>
              </a:rPr>
              <a:t>SAI SANKEERTH - 2620030630</a:t>
            </a:r>
            <a:endParaRPr lang="en-US" sz="1200" dirty="0"/>
          </a:p>
          <a:p>
            <a:pPr algn="l" indent="0" marL="0">
              <a:lnSpc>
                <a:spcPct val="108000"/>
              </a:lnSpc>
              <a:buNone/>
            </a:pPr>
            <a:r>
              <a:rPr lang="en-US" sz="1200" spc="96" kern="100" dirty="0">
                <a:solidFill>
                  <a:srgbClr val="DCE1E2"/>
                </a:solidFill>
                <a:latin typeface="Atkinson Hyperlegible Next" pitchFamily="34" charset="0"/>
                <a:ea typeface="Atkinson Hyperlegible Next" pitchFamily="34" charset="-122"/>
                <a:cs typeface="Atkinson Hyperlegible Next" pitchFamily="34" charset="-120"/>
              </a:rPr>
              <a:t>VAIBHAV - 2620030577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1182" y="609600"/>
            <a:ext cx="6197445"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9DA6A8"/>
                </a:solidFill>
                <a:latin typeface="Fragment Mono" pitchFamily="34" charset="0"/>
                <a:ea typeface="Fragment Mono" pitchFamily="34" charset="-122"/>
                <a:cs typeface="Fragment Mono" pitchFamily="34" charset="-120"/>
              </a:rPr>
              <a:t>THE PROBLEM</a:t>
            </a:r>
            <a:endParaRPr lang="en-US" sz="1200" dirty="0"/>
          </a:p>
        </p:txBody>
      </p:sp>
      <p:sp>
        <p:nvSpPr>
          <p:cNvPr id="3" name="Text 1"/>
          <p:cNvSpPr/>
          <p:nvPr/>
        </p:nvSpPr>
        <p:spPr>
          <a:xfrm>
            <a:off x="711182" y="911523"/>
            <a:ext cx="5765656" cy="1117600"/>
          </a:xfrm>
          <a:prstGeom prst="rect">
            <a:avLst/>
          </a:prstGeom>
          <a:noFill/>
          <a:ln/>
        </p:spPr>
        <p:txBody>
          <a:bodyPr wrap="square" lIns="0" tIns="0" rIns="0" bIns="0" rtlCol="0" anchor="t">
            <a:normAutofit/>
          </a:bodyPr>
          <a:lstStyle/>
          <a:p>
            <a:pPr algn="l" indent="0" marL="0">
              <a:lnSpc>
                <a:spcPct val="83000"/>
              </a:lnSpc>
              <a:buNone/>
            </a:pPr>
            <a:r>
              <a:rPr lang="en-US" sz="4400" b="1" spc="-44" kern="100" dirty="0">
                <a:solidFill>
                  <a:srgbClr val="F1F3F3"/>
                </a:solidFill>
                <a:latin typeface="Sofia Sans Condensed Bold" pitchFamily="34" charset="0"/>
                <a:ea typeface="Sofia Sans Condensed Bold" pitchFamily="34" charset="-122"/>
                <a:cs typeface="Sofia Sans Condensed Bold" pitchFamily="34" charset="-120"/>
              </a:rPr>
              <a:t>Street lights should respond to the surroundings</a:t>
            </a:r>
            <a:endParaRPr lang="en-US" sz="4400" dirty="0"/>
          </a:p>
        </p:txBody>
      </p:sp>
      <p:sp>
        <p:nvSpPr>
          <p:cNvPr id="4" name="Text 2"/>
          <p:cNvSpPr/>
          <p:nvPr/>
        </p:nvSpPr>
        <p:spPr>
          <a:xfrm>
            <a:off x="711182" y="2273895"/>
            <a:ext cx="5765656" cy="4025305"/>
          </a:xfrm>
          <a:prstGeom prst="rect">
            <a:avLst/>
          </a:prstGeom>
          <a:noFill/>
          <a:ln/>
        </p:spPr>
        <p:txBody>
          <a:bodyPr wrap="square" lIns="0" tIns="0" rIns="0" bIns="0" rtlCol="0" anchor="t">
            <a:normAutofit/>
          </a:bodyPr>
          <a:lstStyle/>
          <a:p>
            <a:pPr algn="l" indent="0" marL="0">
              <a:lnSpc>
                <a:spcPct val="117000"/>
              </a:lnSpc>
              <a:spcAft>
                <a:spcPts val="1600"/>
              </a:spcAft>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Automatic control switches lights according to surrounding light intensity.</a:t>
            </a:r>
            <a:endParaRPr lang="en-US" sz="1800" dirty="0"/>
          </a:p>
          <a:p>
            <a:pPr algn="l" indent="0" marL="0">
              <a:lnSpc>
                <a:spcPct val="117000"/>
              </a:lnSpc>
              <a:spcAft>
                <a:spcPts val="1600"/>
              </a:spcAft>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Manual switching requires human effort and regular monitoring.</a:t>
            </a:r>
            <a:endParaRPr lang="en-US" sz="1800" dirty="0"/>
          </a:p>
          <a:p>
            <a:pPr algn="l" indent="0" marL="0">
              <a:lnSpc>
                <a:spcPct val="117000"/>
              </a:lnSpc>
              <a:spcAft>
                <a:spcPts val="1600"/>
              </a:spcAft>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Lights can remain ON during daytime and waste electricity.</a:t>
            </a:r>
            <a:endParaRPr lang="en-US" sz="1800" dirty="0"/>
          </a:p>
          <a:p>
            <a:pPr algn="l" indent="0" marL="0">
              <a:lnSpc>
                <a:spcPct val="117000"/>
              </a:lnSpc>
              <a:spcAft>
                <a:spcPts val="1600"/>
              </a:spcAft>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A sensor-based approach reduces unnecessary operation.</a:t>
            </a:r>
            <a:endParaRPr lang="en-US" sz="1800" dirty="0"/>
          </a:p>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This project demonstrates a simple automated lighting system.</a:t>
            </a:r>
            <a:endParaRPr lang="en-US" sz="1800" dirty="0"/>
          </a:p>
        </p:txBody>
      </p:sp>
      <p:sp>
        <p:nvSpPr>
          <p:cNvPr id="5" name="Shape 3"/>
          <p:cNvSpPr/>
          <p:nvPr/>
        </p:nvSpPr>
        <p:spPr>
          <a:xfrm>
            <a:off x="6908627" y="0"/>
            <a:ext cx="5283068" cy="6858000"/>
          </a:xfrm>
          <a:prstGeom prst="rect">
            <a:avLst/>
          </a:prstGeom>
          <a:solidFill>
            <a:srgbClr val="B6BFC1"/>
          </a:solidFill>
          <a:ln/>
        </p:spPr>
      </p:sp>
      <p:pic>
        <p:nvPicPr>
          <p:cNvPr id="6" name="Image 0" descr="preencoded.png">    </p:cNvPr>
          <p:cNvPicPr>
            <a:picLocks noChangeAspect="1"/>
          </p:cNvPicPr>
          <p:nvPr/>
        </p:nvPicPr>
        <p:blipFill>
          <a:blip r:embed="rId1"/>
          <a:stretch>
            <a:fillRect/>
          </a:stretch>
        </p:blipFill>
        <p:spPr>
          <a:xfrm>
            <a:off x="6908627" y="0"/>
            <a:ext cx="528306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9DA6A8"/>
                </a:solidFill>
                <a:latin typeface="Fragment Mono" pitchFamily="34" charset="0"/>
                <a:ea typeface="Fragment Mono" pitchFamily="34" charset="-122"/>
                <a:cs typeface="Fragment Mono" pitchFamily="34" charset="-120"/>
              </a:rPr>
              <a:t>SYSTEM OVERVIEW</a:t>
            </a:r>
            <a:endParaRPr lang="en-US" sz="1200" dirty="0"/>
          </a:p>
        </p:txBody>
      </p:sp>
      <p:sp>
        <p:nvSpPr>
          <p:cNvPr id="3" name="Text 1"/>
          <p:cNvSpPr/>
          <p:nvPr/>
        </p:nvSpPr>
        <p:spPr>
          <a:xfrm>
            <a:off x="609585" y="911523"/>
            <a:ext cx="10972526" cy="558800"/>
          </a:xfrm>
          <a:prstGeom prst="rect">
            <a:avLst/>
          </a:prstGeom>
          <a:noFill/>
          <a:ln/>
        </p:spPr>
        <p:txBody>
          <a:bodyPr wrap="none" lIns="0" tIns="0" rIns="0" bIns="0" rtlCol="0" anchor="t"/>
          <a:lstStyle/>
          <a:p>
            <a:pPr algn="l" indent="0" marL="0">
              <a:lnSpc>
                <a:spcPct val="83000"/>
              </a:lnSpc>
              <a:buNone/>
            </a:pPr>
            <a:r>
              <a:rPr lang="en-US" sz="4400" b="1" spc="-44" kern="100" dirty="0">
                <a:solidFill>
                  <a:srgbClr val="F1F3F3"/>
                </a:solidFill>
                <a:latin typeface="Sofia Sans Condensed Bold" pitchFamily="34" charset="0"/>
                <a:ea typeface="Sofia Sans Condensed Bold" pitchFamily="34" charset="-122"/>
                <a:cs typeface="Sofia Sans Condensed Bold" pitchFamily="34" charset="-120"/>
              </a:rPr>
              <a:t>The system combines sensing, switching, and lighting</a:t>
            </a:r>
            <a:endParaRPr lang="en-US" sz="4400" dirty="0"/>
          </a:p>
        </p:txBody>
      </p:sp>
      <p:sp>
        <p:nvSpPr>
          <p:cNvPr id="4" name="Text 2"/>
          <p:cNvSpPr/>
          <p:nvPr/>
        </p:nvSpPr>
        <p:spPr>
          <a:xfrm>
            <a:off x="609585" y="1671935"/>
            <a:ext cx="11582110" cy="319980"/>
          </a:xfrm>
          <a:prstGeom prst="rect">
            <a:avLst/>
          </a:prstGeom>
          <a:noFill/>
          <a:ln/>
        </p:spPr>
        <p:txBody>
          <a:bodyPr wrap="none" lIns="0" tIns="0" rIns="0" bIns="0" rtlCol="0" anchor="t"/>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Each part has one clear job in the control chain.</a:t>
            </a:r>
            <a:endParaRPr lang="en-US" sz="1800" dirty="0"/>
          </a:p>
        </p:txBody>
      </p:sp>
      <p:sp>
        <p:nvSpPr>
          <p:cNvPr id="5" name="Shape 3"/>
          <p:cNvSpPr/>
          <p:nvPr/>
        </p:nvSpPr>
        <p:spPr>
          <a:xfrm>
            <a:off x="609585" y="2563416"/>
            <a:ext cx="2514537" cy="2641302"/>
          </a:xfrm>
          <a:prstGeom prst="rect">
            <a:avLst/>
          </a:prstGeom>
          <a:solidFill>
            <a:srgbClr val="303233"/>
          </a:solidFill>
          <a:ln/>
        </p:spPr>
      </p:sp>
      <p:sp>
        <p:nvSpPr>
          <p:cNvPr id="6" name="Text 4"/>
          <p:cNvSpPr/>
          <p:nvPr/>
        </p:nvSpPr>
        <p:spPr>
          <a:xfrm>
            <a:off x="838179" y="3135868"/>
            <a:ext cx="2057349" cy="396180"/>
          </a:xfrm>
          <a:prstGeom prst="rect">
            <a:avLst/>
          </a:prstGeom>
          <a:noFill/>
          <a:ln/>
        </p:spPr>
        <p:txBody>
          <a:bodyPr wrap="none" lIns="0" tIns="0" rIns="0" bIns="0" rtlCol="0" anchor="t"/>
          <a:lstStyle/>
          <a:p>
            <a:pPr algn="l" indent="0" marL="0">
              <a:lnSpc>
                <a:spcPct val="108000"/>
              </a:lnSpc>
              <a:buNone/>
            </a:pPr>
            <a:r>
              <a:rPr lang="en-US" sz="2400" dirty="0">
                <a:solidFill>
                  <a:srgbClr val="F1F3F3"/>
                </a:solidFill>
                <a:latin typeface="Atkinson Hyperlegible Next" pitchFamily="34" charset="0"/>
                <a:ea typeface="Atkinson Hyperlegible Next" pitchFamily="34" charset="-122"/>
                <a:cs typeface="Atkinson Hyperlegible Next" pitchFamily="34" charset="-120"/>
              </a:rPr>
              <a:t>Sensing</a:t>
            </a:r>
            <a:endParaRPr lang="en-US" sz="2400" dirty="0"/>
          </a:p>
        </p:txBody>
      </p:sp>
      <p:sp>
        <p:nvSpPr>
          <p:cNvPr id="7" name="Text 5"/>
          <p:cNvSpPr/>
          <p:nvPr/>
        </p:nvSpPr>
        <p:spPr>
          <a:xfrm>
            <a:off x="838179" y="3696196"/>
            <a:ext cx="2057349" cy="1279922"/>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LDR senses changes in surrounding light intensity.</a:t>
            </a:r>
            <a:endParaRPr lang="en-US" sz="1800" dirty="0"/>
          </a:p>
        </p:txBody>
      </p:sp>
      <p:sp>
        <p:nvSpPr>
          <p:cNvPr id="8" name="Shape 6"/>
          <p:cNvSpPr/>
          <p:nvPr/>
        </p:nvSpPr>
        <p:spPr>
          <a:xfrm>
            <a:off x="3428914" y="2563416"/>
            <a:ext cx="2514537" cy="2641302"/>
          </a:xfrm>
          <a:prstGeom prst="rect">
            <a:avLst/>
          </a:prstGeom>
          <a:solidFill>
            <a:srgbClr val="303233"/>
          </a:solidFill>
          <a:ln/>
        </p:spPr>
      </p:sp>
      <p:sp>
        <p:nvSpPr>
          <p:cNvPr id="9" name="Text 7"/>
          <p:cNvSpPr/>
          <p:nvPr/>
        </p:nvSpPr>
        <p:spPr>
          <a:xfrm>
            <a:off x="3657509" y="3135868"/>
            <a:ext cx="2057349" cy="396180"/>
          </a:xfrm>
          <a:prstGeom prst="rect">
            <a:avLst/>
          </a:prstGeom>
          <a:noFill/>
          <a:ln/>
        </p:spPr>
        <p:txBody>
          <a:bodyPr wrap="none" lIns="0" tIns="0" rIns="0" bIns="0" rtlCol="0" anchor="t"/>
          <a:lstStyle/>
          <a:p>
            <a:pPr algn="l" indent="0" marL="0">
              <a:lnSpc>
                <a:spcPct val="108000"/>
              </a:lnSpc>
              <a:buNone/>
            </a:pPr>
            <a:r>
              <a:rPr lang="en-US" sz="2400" dirty="0">
                <a:solidFill>
                  <a:srgbClr val="F1F3F3"/>
                </a:solidFill>
                <a:latin typeface="Atkinson Hyperlegible Next" pitchFamily="34" charset="0"/>
                <a:ea typeface="Atkinson Hyperlegible Next" pitchFamily="34" charset="-122"/>
                <a:cs typeface="Atkinson Hyperlegible Next" pitchFamily="34" charset="-120"/>
              </a:rPr>
              <a:t>Conditions</a:t>
            </a:r>
            <a:endParaRPr lang="en-US" sz="2400" dirty="0"/>
          </a:p>
        </p:txBody>
      </p:sp>
      <p:sp>
        <p:nvSpPr>
          <p:cNvPr id="10" name="Text 8"/>
          <p:cNvSpPr/>
          <p:nvPr/>
        </p:nvSpPr>
        <p:spPr>
          <a:xfrm>
            <a:off x="3657509" y="3696196"/>
            <a:ext cx="2057349"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Resistors set the circuit conditions for the decision.</a:t>
            </a:r>
            <a:endParaRPr lang="en-US" sz="1800" dirty="0"/>
          </a:p>
        </p:txBody>
      </p:sp>
      <p:sp>
        <p:nvSpPr>
          <p:cNvPr id="11" name="Shape 9"/>
          <p:cNvSpPr/>
          <p:nvPr/>
        </p:nvSpPr>
        <p:spPr>
          <a:xfrm>
            <a:off x="6248244" y="2563416"/>
            <a:ext cx="2514537" cy="2641302"/>
          </a:xfrm>
          <a:prstGeom prst="rect">
            <a:avLst/>
          </a:prstGeom>
          <a:solidFill>
            <a:srgbClr val="303233"/>
          </a:solidFill>
          <a:ln/>
        </p:spPr>
      </p:sp>
      <p:sp>
        <p:nvSpPr>
          <p:cNvPr id="12" name="Text 10"/>
          <p:cNvSpPr/>
          <p:nvPr/>
        </p:nvSpPr>
        <p:spPr>
          <a:xfrm>
            <a:off x="6476838" y="3135868"/>
            <a:ext cx="2057349" cy="396180"/>
          </a:xfrm>
          <a:prstGeom prst="rect">
            <a:avLst/>
          </a:prstGeom>
          <a:noFill/>
          <a:ln/>
        </p:spPr>
        <p:txBody>
          <a:bodyPr wrap="none" lIns="0" tIns="0" rIns="0" bIns="0" rtlCol="0" anchor="t"/>
          <a:lstStyle/>
          <a:p>
            <a:pPr algn="l" indent="0" marL="0">
              <a:lnSpc>
                <a:spcPct val="108000"/>
              </a:lnSpc>
              <a:buNone/>
            </a:pPr>
            <a:r>
              <a:rPr lang="en-US" sz="2400" dirty="0">
                <a:solidFill>
                  <a:srgbClr val="F1F3F3"/>
                </a:solidFill>
                <a:latin typeface="Atkinson Hyperlegible Next" pitchFamily="34" charset="0"/>
                <a:ea typeface="Atkinson Hyperlegible Next" pitchFamily="34" charset="-122"/>
                <a:cs typeface="Atkinson Hyperlegible Next" pitchFamily="34" charset="-120"/>
              </a:rPr>
              <a:t>Switching</a:t>
            </a:r>
            <a:endParaRPr lang="en-US" sz="2400" dirty="0"/>
          </a:p>
        </p:txBody>
      </p:sp>
      <p:sp>
        <p:nvSpPr>
          <p:cNvPr id="13" name="Text 11"/>
          <p:cNvSpPr/>
          <p:nvPr/>
        </p:nvSpPr>
        <p:spPr>
          <a:xfrm>
            <a:off x="6476838" y="3696196"/>
            <a:ext cx="2057349" cy="1279922"/>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A transistor or comparator controls the switching action.</a:t>
            </a:r>
            <a:endParaRPr lang="en-US" sz="1800" dirty="0"/>
          </a:p>
        </p:txBody>
      </p:sp>
      <p:sp>
        <p:nvSpPr>
          <p:cNvPr id="14" name="Shape 12"/>
          <p:cNvSpPr/>
          <p:nvPr/>
        </p:nvSpPr>
        <p:spPr>
          <a:xfrm>
            <a:off x="9067573" y="2563416"/>
            <a:ext cx="2514537" cy="2641302"/>
          </a:xfrm>
          <a:prstGeom prst="rect">
            <a:avLst/>
          </a:prstGeom>
          <a:solidFill>
            <a:srgbClr val="303233"/>
          </a:solidFill>
          <a:ln/>
        </p:spPr>
      </p:sp>
      <p:sp>
        <p:nvSpPr>
          <p:cNvPr id="15" name="Text 13"/>
          <p:cNvSpPr/>
          <p:nvPr/>
        </p:nvSpPr>
        <p:spPr>
          <a:xfrm>
            <a:off x="9296167" y="3135868"/>
            <a:ext cx="2057349" cy="396180"/>
          </a:xfrm>
          <a:prstGeom prst="rect">
            <a:avLst/>
          </a:prstGeom>
          <a:noFill/>
          <a:ln/>
        </p:spPr>
        <p:txBody>
          <a:bodyPr wrap="none" lIns="0" tIns="0" rIns="0" bIns="0" rtlCol="0" anchor="t"/>
          <a:lstStyle/>
          <a:p>
            <a:pPr algn="l" indent="0" marL="0">
              <a:lnSpc>
                <a:spcPct val="108000"/>
              </a:lnSpc>
              <a:buNone/>
            </a:pPr>
            <a:r>
              <a:rPr lang="en-US" sz="2400" dirty="0">
                <a:solidFill>
                  <a:srgbClr val="F1F3F3"/>
                </a:solidFill>
                <a:latin typeface="Atkinson Hyperlegible Next" pitchFamily="34" charset="0"/>
                <a:ea typeface="Atkinson Hyperlegible Next" pitchFamily="34" charset="-122"/>
                <a:cs typeface="Atkinson Hyperlegible Next" pitchFamily="34" charset="-120"/>
              </a:rPr>
              <a:t>Lighting</a:t>
            </a:r>
            <a:endParaRPr lang="en-US" sz="2400" dirty="0"/>
          </a:p>
        </p:txBody>
      </p:sp>
      <p:sp>
        <p:nvSpPr>
          <p:cNvPr id="16" name="Text 14"/>
          <p:cNvSpPr/>
          <p:nvPr/>
        </p:nvSpPr>
        <p:spPr>
          <a:xfrm>
            <a:off x="9296167" y="3696196"/>
            <a:ext cx="2057349"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An LED or lamp represents the street light load.</a:t>
            </a:r>
            <a:endParaRPr lang="en-US" sz="1800" dirty="0"/>
          </a:p>
        </p:txBody>
      </p:sp>
      <p:sp>
        <p:nvSpPr>
          <p:cNvPr id="17" name="Text 15"/>
          <p:cNvSpPr/>
          <p:nvPr/>
        </p:nvSpPr>
        <p:spPr>
          <a:xfrm>
            <a:off x="609585" y="6017022"/>
            <a:ext cx="11582110" cy="231378"/>
          </a:xfrm>
          <a:prstGeom prst="rect">
            <a:avLst/>
          </a:prstGeom>
          <a:noFill/>
          <a:ln/>
        </p:spPr>
        <p:txBody>
          <a:bodyPr wrap="none" lIns="0" tIns="0" rIns="0" bIns="0" rtlCol="0" anchor="t"/>
          <a:lstStyle/>
          <a:p>
            <a:pPr algn="l" indent="0" marL="0">
              <a:lnSpc>
                <a:spcPct val="113000"/>
              </a:lnSpc>
              <a:buNone/>
            </a:pPr>
            <a:r>
              <a:rPr lang="en-US" sz="1350" dirty="0">
                <a:solidFill>
                  <a:srgbClr val="9DA6A8"/>
                </a:solidFill>
                <a:latin typeface="Atkinson Hyperlegible Next" pitchFamily="34" charset="0"/>
                <a:ea typeface="Atkinson Hyperlegible Next" pitchFamily="34" charset="-122"/>
                <a:cs typeface="Atkinson Hyperlegible Next" pitchFamily="34" charset="-120"/>
              </a:rPr>
              <a:t>Power supply and wires provide energy and connections across the system.</a:t>
            </a:r>
            <a:endParaRPr lang="en-US" sz="1350" dirty="0"/>
          </a:p>
        </p:txBody>
      </p:sp>
      <p:sp>
        <p:nvSpPr>
          <p:cNvPr id="18" name="Shape 16"/>
          <p:cNvSpPr/>
          <p:nvPr/>
        </p:nvSpPr>
        <p:spPr>
          <a:xfrm>
            <a:off x="1523962" y="2220516"/>
            <a:ext cx="685783" cy="685800"/>
          </a:xfrm>
          <a:prstGeom prst="ellipse">
            <a:avLst/>
          </a:prstGeom>
          <a:solidFill>
            <a:srgbClr val="A62C37"/>
          </a:solidFill>
          <a:ln/>
        </p:spPr>
      </p:sp>
      <p:pic>
        <p:nvPicPr>
          <p:cNvPr id="19" name="Image 0" descr="preencoded.png">    </p:cNvPr>
          <p:cNvPicPr>
            <a:picLocks noChangeAspect="1"/>
          </p:cNvPicPr>
          <p:nvPr/>
        </p:nvPicPr>
        <p:blipFill>
          <a:blip r:embed="rId1"/>
          <a:stretch>
            <a:fillRect/>
          </a:stretch>
        </p:blipFill>
        <p:spPr>
          <a:xfrm>
            <a:off x="1695408" y="2391966"/>
            <a:ext cx="342891" cy="342900"/>
          </a:xfrm>
          <a:prstGeom prst="rect">
            <a:avLst/>
          </a:prstGeom>
        </p:spPr>
      </p:pic>
      <p:sp>
        <p:nvSpPr>
          <p:cNvPr id="20" name="Shape 17"/>
          <p:cNvSpPr/>
          <p:nvPr/>
        </p:nvSpPr>
        <p:spPr>
          <a:xfrm>
            <a:off x="4343291" y="2220516"/>
            <a:ext cx="685783" cy="685800"/>
          </a:xfrm>
          <a:prstGeom prst="ellipse">
            <a:avLst/>
          </a:prstGeom>
          <a:solidFill>
            <a:srgbClr val="A62C37"/>
          </a:solidFill>
          <a:ln/>
        </p:spPr>
      </p:sp>
      <p:pic>
        <p:nvPicPr>
          <p:cNvPr id="21" name="Image 1" descr="preencoded.png">    </p:cNvPr>
          <p:cNvPicPr>
            <a:picLocks noChangeAspect="1"/>
          </p:cNvPicPr>
          <p:nvPr/>
        </p:nvPicPr>
        <p:blipFill>
          <a:blip r:embed="rId2"/>
          <a:stretch>
            <a:fillRect/>
          </a:stretch>
        </p:blipFill>
        <p:spPr>
          <a:xfrm>
            <a:off x="4514737" y="2391966"/>
            <a:ext cx="342891" cy="342900"/>
          </a:xfrm>
          <a:prstGeom prst="rect">
            <a:avLst/>
          </a:prstGeom>
        </p:spPr>
      </p:pic>
      <p:sp>
        <p:nvSpPr>
          <p:cNvPr id="22" name="Shape 18"/>
          <p:cNvSpPr/>
          <p:nvPr/>
        </p:nvSpPr>
        <p:spPr>
          <a:xfrm>
            <a:off x="7162621" y="2220516"/>
            <a:ext cx="685783" cy="685800"/>
          </a:xfrm>
          <a:prstGeom prst="ellipse">
            <a:avLst/>
          </a:prstGeom>
          <a:solidFill>
            <a:srgbClr val="A62C37"/>
          </a:solidFill>
          <a:ln/>
        </p:spPr>
      </p:sp>
      <p:pic>
        <p:nvPicPr>
          <p:cNvPr id="23" name="Image 2" descr="preencoded.png">    </p:cNvPr>
          <p:cNvPicPr>
            <a:picLocks noChangeAspect="1"/>
          </p:cNvPicPr>
          <p:nvPr/>
        </p:nvPicPr>
        <p:blipFill>
          <a:blip r:embed="rId3"/>
          <a:stretch>
            <a:fillRect/>
          </a:stretch>
        </p:blipFill>
        <p:spPr>
          <a:xfrm>
            <a:off x="7334067" y="2391966"/>
            <a:ext cx="342891" cy="342900"/>
          </a:xfrm>
          <a:prstGeom prst="rect">
            <a:avLst/>
          </a:prstGeom>
        </p:spPr>
      </p:pic>
      <p:sp>
        <p:nvSpPr>
          <p:cNvPr id="24" name="Shape 19"/>
          <p:cNvSpPr/>
          <p:nvPr/>
        </p:nvSpPr>
        <p:spPr>
          <a:xfrm>
            <a:off x="9981950" y="2220516"/>
            <a:ext cx="685783" cy="685800"/>
          </a:xfrm>
          <a:prstGeom prst="ellipse">
            <a:avLst/>
          </a:prstGeom>
          <a:solidFill>
            <a:srgbClr val="A62C37"/>
          </a:solidFill>
          <a:ln/>
        </p:spPr>
      </p:sp>
      <p:pic>
        <p:nvPicPr>
          <p:cNvPr id="25" name="Image 3" descr="preencoded.png">    </p:cNvPr>
          <p:cNvPicPr>
            <a:picLocks noChangeAspect="1"/>
          </p:cNvPicPr>
          <p:nvPr/>
        </p:nvPicPr>
        <p:blipFill>
          <a:blip r:embed="rId4"/>
          <a:stretch>
            <a:fillRect/>
          </a:stretch>
        </p:blipFill>
        <p:spPr>
          <a:xfrm>
            <a:off x="10153396" y="2391966"/>
            <a:ext cx="342891" cy="3429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9DA6A8"/>
                </a:solidFill>
                <a:latin typeface="Fragment Mono" pitchFamily="34" charset="0"/>
                <a:ea typeface="Fragment Mono" pitchFamily="34" charset="-122"/>
                <a:cs typeface="Fragment Mono" pitchFamily="34" charset="-120"/>
              </a:rPr>
              <a:t>THE SENSOR</a:t>
            </a:r>
            <a:endParaRPr lang="en-US" sz="1200" dirty="0"/>
          </a:p>
        </p:txBody>
      </p:sp>
      <p:sp>
        <p:nvSpPr>
          <p:cNvPr id="3" name="Text 1"/>
          <p:cNvSpPr/>
          <p:nvPr/>
        </p:nvSpPr>
        <p:spPr>
          <a:xfrm>
            <a:off x="609585" y="911523"/>
            <a:ext cx="10972526" cy="558800"/>
          </a:xfrm>
          <a:prstGeom prst="rect">
            <a:avLst/>
          </a:prstGeom>
          <a:noFill/>
          <a:ln/>
        </p:spPr>
        <p:txBody>
          <a:bodyPr wrap="none" lIns="0" tIns="0" rIns="0" bIns="0" rtlCol="0" anchor="t"/>
          <a:lstStyle/>
          <a:p>
            <a:pPr algn="l" indent="0" marL="0">
              <a:lnSpc>
                <a:spcPct val="83000"/>
              </a:lnSpc>
              <a:buNone/>
            </a:pPr>
            <a:r>
              <a:rPr lang="en-US" sz="4400" b="1" spc="-44" kern="100" dirty="0">
                <a:solidFill>
                  <a:srgbClr val="F1F3F3"/>
                </a:solidFill>
                <a:latin typeface="Sofia Sans Condensed Bold" pitchFamily="34" charset="0"/>
                <a:ea typeface="Sofia Sans Condensed Bold" pitchFamily="34" charset="-122"/>
                <a:cs typeface="Sofia Sans Condensed Bold" pitchFamily="34" charset="-120"/>
              </a:rPr>
              <a:t>An LDR turns brightness into an electrical decision</a:t>
            </a:r>
            <a:endParaRPr lang="en-US" sz="4400" dirty="0"/>
          </a:p>
        </p:txBody>
      </p:sp>
      <p:sp>
        <p:nvSpPr>
          <p:cNvPr id="4" name="Text 2"/>
          <p:cNvSpPr/>
          <p:nvPr/>
        </p:nvSpPr>
        <p:spPr>
          <a:xfrm>
            <a:off x="609585" y="1671935"/>
            <a:ext cx="11582110" cy="319980"/>
          </a:xfrm>
          <a:prstGeom prst="rect">
            <a:avLst/>
          </a:prstGeom>
          <a:noFill/>
          <a:ln/>
        </p:spPr>
        <p:txBody>
          <a:bodyPr wrap="none" lIns="0" tIns="0" rIns="0" bIns="0" rtlCol="0" anchor="t"/>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sensor does not measure “day” or “night” directly. It changes resistance with light.</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2195116"/>
          <a:ext cx="10972526" cy="914400"/>
        </p:xfrm>
        <a:graphic>
          <a:graphicData uri="http://schemas.openxmlformats.org/drawingml/2006/table">
            <a:tbl>
              <a:tblPr/>
              <a:tblGrid>
                <a:gridCol w="1974999"/>
                <a:gridCol w="2633398"/>
                <a:gridCol w="2633398"/>
                <a:gridCol w="3730730"/>
              </a:tblGrid>
              <a:tr h="515429">
                <a:tc>
                  <a:txBody>
                    <a:bodyPr/>
                    <a:lstStyle/>
                    <a:p>
                      <a:pPr algn="l" indent="0" marL="0">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Condition</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Light intensity</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LDR resistance</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System decision</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r>
              <a:tr h="515429">
                <a:tc>
                  <a:txBody>
                    <a:bodyPr/>
                    <a:lstStyle/>
                    <a:p>
                      <a:pPr algn="l" indent="0" marL="0">
                        <a:buNone/>
                      </a:pPr>
                      <a:r>
                        <a:rPr lang="en-US" sz="1800" b="1" dirty="0">
                          <a:solidFill>
                            <a:srgbClr val="DCE1E2"/>
                          </a:solidFill>
                          <a:latin typeface="Atkinson Hyperlegible Next" pitchFamily="34" charset="0"/>
                          <a:ea typeface="Atkinson Hyperlegible Next" pitchFamily="34" charset="-122"/>
                          <a:cs typeface="Atkinson Hyperlegible Next" pitchFamily="34" charset="-120"/>
                        </a:rPr>
                        <a:t>Bright</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High</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Lower</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Keep light OFF</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r>
              <a:tr h="502729">
                <a:tc>
                  <a:txBody>
                    <a:bodyPr/>
                    <a:lstStyle/>
                    <a:p>
                      <a:pPr algn="l" indent="0" marL="0">
                        <a:buNone/>
                      </a:pPr>
                      <a:r>
                        <a:rPr lang="en-US" sz="1800" b="1" dirty="0">
                          <a:solidFill>
                            <a:srgbClr val="DCE1E2"/>
                          </a:solidFill>
                          <a:latin typeface="Atkinson Hyperlegible Next" pitchFamily="34" charset="0"/>
                          <a:ea typeface="Atkinson Hyperlegible Next" pitchFamily="34" charset="-122"/>
                          <a:cs typeface="Atkinson Hyperlegible Next" pitchFamily="34" charset="-120"/>
                        </a:rPr>
                        <a:t>Dark</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Low</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Higher</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algn="l" indent="0" marL="0">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Turn light ON</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A62C37"/>
                      </a:solidFill>
                      <a:prstDash val="solid"/>
                      <a:round/>
                      <a:headEnd type="none" w="med" len="med"/>
                      <a:tailEnd type="none" w="med" len="med"/>
                    </a:lnL>
                    <a:lnR w="12700" cap="flat" cmpd="sng" algn="ctr">
                      <a:solidFill>
                        <a:srgbClr val="A62C37"/>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A62C37"/>
                      </a:solidFill>
                      <a:prstDash val="solid"/>
                      <a:round/>
                      <a:headEnd type="none" w="med" len="med"/>
                      <a:tailEnd type="none" w="med" len="med"/>
                    </a:lnB>
                    <a:solidFill>
                      <a:srgbClr val="A62C37"/>
                    </a:solidFill>
                  </a:tcPr>
                </a:tc>
              </a:tr>
            </a:tbl>
          </a:graphicData>
        </a:graphic>
      </p:graphicFrame>
      <p:sp>
        <p:nvSpPr>
          <p:cNvPr id="6" name="Text 3"/>
          <p:cNvSpPr/>
          <p:nvPr/>
        </p:nvSpPr>
        <p:spPr>
          <a:xfrm>
            <a:off x="609585" y="3931940"/>
            <a:ext cx="10972526"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sensing circuit uses this resistance change to identify bright or dark conditions. The control circuit then switches the street light accordingly.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9DA6A8"/>
                </a:solidFill>
                <a:latin typeface="Fragment Mono" pitchFamily="34" charset="0"/>
                <a:ea typeface="Fragment Mono" pitchFamily="34" charset="-122"/>
                <a:cs typeface="Fragment Mono" pitchFamily="34" charset="-120"/>
              </a:rPr>
              <a:t>FROM INPUT TO LOAD</a:t>
            </a:r>
            <a:endParaRPr lang="en-US" sz="1200" dirty="0"/>
          </a:p>
        </p:txBody>
      </p:sp>
      <p:sp>
        <p:nvSpPr>
          <p:cNvPr id="3" name="Text 1"/>
          <p:cNvSpPr/>
          <p:nvPr/>
        </p:nvSpPr>
        <p:spPr>
          <a:xfrm>
            <a:off x="609585" y="911523"/>
            <a:ext cx="10972526" cy="558800"/>
          </a:xfrm>
          <a:prstGeom prst="rect">
            <a:avLst/>
          </a:prstGeom>
          <a:noFill/>
          <a:ln/>
        </p:spPr>
        <p:txBody>
          <a:bodyPr wrap="none" lIns="0" tIns="0" rIns="0" bIns="0" rtlCol="0" anchor="t"/>
          <a:lstStyle/>
          <a:p>
            <a:pPr algn="l" indent="0" marL="0">
              <a:lnSpc>
                <a:spcPct val="83000"/>
              </a:lnSpc>
              <a:buNone/>
            </a:pPr>
            <a:r>
              <a:rPr lang="en-US" sz="4400" b="1" spc="-44" kern="100" dirty="0">
                <a:solidFill>
                  <a:srgbClr val="F1F3F3"/>
                </a:solidFill>
                <a:latin typeface="Sofia Sans Condensed Bold" pitchFamily="34" charset="0"/>
                <a:ea typeface="Sofia Sans Condensed Bold" pitchFamily="34" charset="-122"/>
                <a:cs typeface="Sofia Sans Condensed Bold" pitchFamily="34" charset="-120"/>
              </a:rPr>
              <a:t>The signal moves from sensor to lamp</a:t>
            </a:r>
            <a:endParaRPr lang="en-US" sz="4400" dirty="0"/>
          </a:p>
        </p:txBody>
      </p:sp>
      <p:sp>
        <p:nvSpPr>
          <p:cNvPr id="4" name="Text 2"/>
          <p:cNvSpPr/>
          <p:nvPr/>
        </p:nvSpPr>
        <p:spPr>
          <a:xfrm>
            <a:off x="609585" y="1671935"/>
            <a:ext cx="11582110" cy="319980"/>
          </a:xfrm>
          <a:prstGeom prst="rect">
            <a:avLst/>
          </a:prstGeom>
          <a:noFill/>
          <a:ln/>
        </p:spPr>
        <p:txBody>
          <a:bodyPr wrap="none" lIns="0" tIns="0" rIns="0" bIns="0" rtlCol="0" anchor="t"/>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physical circuit has four functional sections, supported by a power supply and common ground.</a:t>
            </a:r>
            <a:endParaRPr lang="en-US" sz="1800" dirty="0"/>
          </a:p>
        </p:txBody>
      </p:sp>
      <p:sp>
        <p:nvSpPr>
          <p:cNvPr id="5" name="Text 3"/>
          <p:cNvSpPr/>
          <p:nvPr/>
        </p:nvSpPr>
        <p:spPr>
          <a:xfrm>
            <a:off x="609585" y="2423716"/>
            <a:ext cx="857923"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01</a:t>
            </a:r>
            <a:endParaRPr lang="en-US" sz="1800" dirty="0"/>
          </a:p>
        </p:txBody>
      </p:sp>
      <p:sp>
        <p:nvSpPr>
          <p:cNvPr id="6" name="Shape 4"/>
          <p:cNvSpPr/>
          <p:nvPr/>
        </p:nvSpPr>
        <p:spPr>
          <a:xfrm>
            <a:off x="609585" y="2743795"/>
            <a:ext cx="1219170" cy="19050"/>
          </a:xfrm>
          <a:prstGeom prst="rect">
            <a:avLst/>
          </a:prstGeom>
          <a:solidFill>
            <a:srgbClr val="A62C37"/>
          </a:solidFill>
          <a:ln/>
        </p:spPr>
      </p:sp>
      <p:sp>
        <p:nvSpPr>
          <p:cNvPr id="7" name="Text 5"/>
          <p:cNvSpPr/>
          <p:nvPr/>
        </p:nvSpPr>
        <p:spPr>
          <a:xfrm>
            <a:off x="609585" y="2901871"/>
            <a:ext cx="1219170"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LDR Sensor</a:t>
            </a:r>
            <a:endParaRPr lang="en-US" sz="1800" dirty="0"/>
          </a:p>
        </p:txBody>
      </p:sp>
      <p:sp>
        <p:nvSpPr>
          <p:cNvPr id="8" name="Text 6"/>
          <p:cNvSpPr/>
          <p:nvPr/>
        </p:nvSpPr>
        <p:spPr>
          <a:xfrm>
            <a:off x="609585" y="3362226"/>
            <a:ext cx="1219170"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Detects ambient light.</a:t>
            </a:r>
            <a:endParaRPr lang="en-US" sz="1800" dirty="0"/>
          </a:p>
        </p:txBody>
      </p:sp>
      <p:sp>
        <p:nvSpPr>
          <p:cNvPr id="9" name="Text 7"/>
          <p:cNvSpPr/>
          <p:nvPr/>
        </p:nvSpPr>
        <p:spPr>
          <a:xfrm>
            <a:off x="1981150" y="2423716"/>
            <a:ext cx="889672"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02</a:t>
            </a:r>
            <a:endParaRPr lang="en-US" sz="1800" dirty="0"/>
          </a:p>
        </p:txBody>
      </p:sp>
      <p:sp>
        <p:nvSpPr>
          <p:cNvPr id="10" name="Shape 8"/>
          <p:cNvSpPr/>
          <p:nvPr/>
        </p:nvSpPr>
        <p:spPr>
          <a:xfrm>
            <a:off x="1981150" y="2743795"/>
            <a:ext cx="1219170" cy="19050"/>
          </a:xfrm>
          <a:prstGeom prst="rect">
            <a:avLst/>
          </a:prstGeom>
          <a:solidFill>
            <a:srgbClr val="A62C37"/>
          </a:solidFill>
          <a:ln/>
        </p:spPr>
      </p:sp>
      <p:sp>
        <p:nvSpPr>
          <p:cNvPr id="11" name="Text 9"/>
          <p:cNvSpPr/>
          <p:nvPr/>
        </p:nvSpPr>
        <p:spPr>
          <a:xfrm>
            <a:off x="1981150" y="2901871"/>
            <a:ext cx="1219170" cy="594320"/>
          </a:xfrm>
          <a:prstGeom prst="rect">
            <a:avLst/>
          </a:prstGeom>
          <a:noFill/>
          <a:ln/>
        </p:spPr>
        <p:txBody>
          <a:bodyPr wrap="square" lIns="0" tIns="0" rIns="0" bIns="0" rtlCol="0" anchor="t">
            <a:normAutofit/>
          </a:bodyPr>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Control Circuit</a:t>
            </a:r>
            <a:endParaRPr lang="en-US" sz="1800" dirty="0"/>
          </a:p>
        </p:txBody>
      </p:sp>
      <p:sp>
        <p:nvSpPr>
          <p:cNvPr id="12" name="Text 10"/>
          <p:cNvSpPr/>
          <p:nvPr/>
        </p:nvSpPr>
        <p:spPr>
          <a:xfrm>
            <a:off x="1981150" y="3659386"/>
            <a:ext cx="1219170" cy="1599902"/>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Compares the sensed condition with a threshold.</a:t>
            </a:r>
            <a:endParaRPr lang="en-US" sz="1800" dirty="0"/>
          </a:p>
        </p:txBody>
      </p:sp>
      <p:sp>
        <p:nvSpPr>
          <p:cNvPr id="13" name="Text 11"/>
          <p:cNvSpPr/>
          <p:nvPr/>
        </p:nvSpPr>
        <p:spPr>
          <a:xfrm>
            <a:off x="3352716" y="2423716"/>
            <a:ext cx="894931"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03</a:t>
            </a:r>
            <a:endParaRPr lang="en-US" sz="1800" dirty="0"/>
          </a:p>
        </p:txBody>
      </p:sp>
      <p:sp>
        <p:nvSpPr>
          <p:cNvPr id="14" name="Shape 12"/>
          <p:cNvSpPr/>
          <p:nvPr/>
        </p:nvSpPr>
        <p:spPr>
          <a:xfrm>
            <a:off x="3352716" y="2743795"/>
            <a:ext cx="1219170" cy="19050"/>
          </a:xfrm>
          <a:prstGeom prst="rect">
            <a:avLst/>
          </a:prstGeom>
          <a:solidFill>
            <a:srgbClr val="A62C37"/>
          </a:solidFill>
          <a:ln/>
        </p:spPr>
      </p:sp>
      <p:sp>
        <p:nvSpPr>
          <p:cNvPr id="15" name="Text 13"/>
          <p:cNvSpPr/>
          <p:nvPr/>
        </p:nvSpPr>
        <p:spPr>
          <a:xfrm>
            <a:off x="3352716" y="2901871"/>
            <a:ext cx="1219170" cy="594320"/>
          </a:xfrm>
          <a:prstGeom prst="rect">
            <a:avLst/>
          </a:prstGeom>
          <a:noFill/>
          <a:ln/>
        </p:spPr>
        <p:txBody>
          <a:bodyPr wrap="square" lIns="0" tIns="0" rIns="0" bIns="0" rtlCol="0" anchor="t">
            <a:normAutofit/>
          </a:bodyPr>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Switching Unit</a:t>
            </a:r>
            <a:endParaRPr lang="en-US" sz="1800" dirty="0"/>
          </a:p>
        </p:txBody>
      </p:sp>
      <p:sp>
        <p:nvSpPr>
          <p:cNvPr id="16" name="Text 14"/>
          <p:cNvSpPr/>
          <p:nvPr/>
        </p:nvSpPr>
        <p:spPr>
          <a:xfrm>
            <a:off x="3352716" y="3659386"/>
            <a:ext cx="1219170"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Drives the load.</a:t>
            </a:r>
            <a:endParaRPr lang="en-US" sz="1800" dirty="0"/>
          </a:p>
        </p:txBody>
      </p:sp>
      <p:sp>
        <p:nvSpPr>
          <p:cNvPr id="17" name="Text 15"/>
          <p:cNvSpPr/>
          <p:nvPr/>
        </p:nvSpPr>
        <p:spPr>
          <a:xfrm>
            <a:off x="4724282" y="2423716"/>
            <a:ext cx="901578"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04</a:t>
            </a:r>
            <a:endParaRPr lang="en-US" sz="1800" dirty="0"/>
          </a:p>
        </p:txBody>
      </p:sp>
      <p:sp>
        <p:nvSpPr>
          <p:cNvPr id="18" name="Shape 16"/>
          <p:cNvSpPr/>
          <p:nvPr/>
        </p:nvSpPr>
        <p:spPr>
          <a:xfrm>
            <a:off x="4724282" y="2743795"/>
            <a:ext cx="1219170" cy="19050"/>
          </a:xfrm>
          <a:prstGeom prst="rect">
            <a:avLst/>
          </a:prstGeom>
          <a:solidFill>
            <a:srgbClr val="A62C37"/>
          </a:solidFill>
          <a:ln/>
        </p:spPr>
      </p:sp>
      <p:sp>
        <p:nvSpPr>
          <p:cNvPr id="19" name="Text 17"/>
          <p:cNvSpPr/>
          <p:nvPr/>
        </p:nvSpPr>
        <p:spPr>
          <a:xfrm>
            <a:off x="4724282" y="2901871"/>
            <a:ext cx="1219170"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Street Light</a:t>
            </a:r>
            <a:endParaRPr lang="en-US" sz="1800" dirty="0"/>
          </a:p>
        </p:txBody>
      </p:sp>
      <p:sp>
        <p:nvSpPr>
          <p:cNvPr id="20" name="Text 18"/>
          <p:cNvSpPr/>
          <p:nvPr/>
        </p:nvSpPr>
        <p:spPr>
          <a:xfrm>
            <a:off x="4724282" y="3362226"/>
            <a:ext cx="1219170"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Turns ON or OFF.</a:t>
            </a:r>
            <a:endParaRPr lang="en-US" sz="1800" dirty="0"/>
          </a:p>
        </p:txBody>
      </p:sp>
      <p:sp>
        <p:nvSpPr>
          <p:cNvPr id="21" name="Text 19"/>
          <p:cNvSpPr/>
          <p:nvPr/>
        </p:nvSpPr>
        <p:spPr>
          <a:xfrm>
            <a:off x="609585" y="5392638"/>
            <a:ext cx="5333867" cy="462756"/>
          </a:xfrm>
          <a:prstGeom prst="rect">
            <a:avLst/>
          </a:prstGeom>
          <a:noFill/>
          <a:ln/>
        </p:spPr>
        <p:txBody>
          <a:bodyPr wrap="square" lIns="0" tIns="0" rIns="0" bIns="0" rtlCol="0" anchor="t">
            <a:normAutofit/>
          </a:bodyPr>
          <a:lstStyle/>
          <a:p>
            <a:pPr algn="l" indent="0" marL="0">
              <a:lnSpc>
                <a:spcPct val="113000"/>
              </a:lnSpc>
              <a:buNone/>
            </a:pPr>
            <a:r>
              <a:rPr lang="en-US" sz="1350" dirty="0">
                <a:solidFill>
                  <a:srgbClr val="9DA6A8"/>
                </a:solidFill>
                <a:latin typeface="Atkinson Hyperlegible Next" pitchFamily="34" charset="0"/>
                <a:ea typeface="Atkinson Hyperlegible Next" pitchFamily="34" charset="-122"/>
                <a:cs typeface="Atkinson Hyperlegible Next" pitchFamily="34" charset="-120"/>
              </a:rPr>
              <a:t>Block flow: LDR Sensor → Control Circuit → Switching Unit → Street Light</a:t>
            </a:r>
            <a:endParaRPr lang="en-US" sz="1350" dirty="0"/>
          </a:p>
        </p:txBody>
      </p:sp>
      <p:sp>
        <p:nvSpPr>
          <p:cNvPr id="22" name="Shape 20"/>
          <p:cNvSpPr/>
          <p:nvPr/>
        </p:nvSpPr>
        <p:spPr>
          <a:xfrm>
            <a:off x="6248244" y="2195116"/>
            <a:ext cx="5333867" cy="3888879"/>
          </a:xfrm>
          <a:prstGeom prst="rect">
            <a:avLst/>
          </a:prstGeom>
          <a:solidFill>
            <a:srgbClr val="B6BFC1"/>
          </a:solidFill>
          <a:ln/>
        </p:spPr>
      </p:sp>
      <p:sp>
        <p:nvSpPr>
          <p:cNvPr id="23" name="Text 21"/>
          <p:cNvSpPr/>
          <p:nvPr/>
        </p:nvSpPr>
        <p:spPr>
          <a:xfrm>
            <a:off x="6476838" y="5190927"/>
            <a:ext cx="4876678" cy="462756"/>
          </a:xfrm>
          <a:prstGeom prst="rect">
            <a:avLst/>
          </a:prstGeom>
          <a:noFill/>
          <a:ln/>
        </p:spPr>
        <p:txBody>
          <a:bodyPr wrap="square" lIns="0" tIns="0" rIns="0" bIns="0" rtlCol="0" anchor="t">
            <a:normAutofit/>
          </a:bodyPr>
          <a:lstStyle/>
          <a:p>
            <a:pPr algn="l" indent="0" marL="0">
              <a:lnSpc>
                <a:spcPct val="113000"/>
              </a:lnSpc>
              <a:buNone/>
            </a:pPr>
            <a:r>
              <a:rPr lang="en-US" sz="1350" dirty="0">
                <a:solidFill>
                  <a:srgbClr val="111418"/>
                </a:solidFill>
                <a:latin typeface="Atkinson Hyperlegible Next" pitchFamily="34" charset="0"/>
                <a:ea typeface="Atkinson Hyperlegible Next" pitchFamily="34" charset="-122"/>
                <a:cs typeface="Atkinson Hyperlegible Next" pitchFamily="34" charset="-120"/>
              </a:rPr>
              <a:t>Example LDR divider and threshold switch. The exact threshold depends on circuit design.</a:t>
            </a:r>
            <a:endParaRPr lang="en-US" sz="1350" dirty="0"/>
          </a:p>
        </p:txBody>
      </p:sp>
      <p:sp>
        <p:nvSpPr>
          <p:cNvPr id="24" name="Shape 22"/>
          <p:cNvSpPr/>
          <p:nvPr/>
        </p:nvSpPr>
        <p:spPr>
          <a:xfrm>
            <a:off x="6862392" y="3126879"/>
            <a:ext cx="816550" cy="22622"/>
          </a:xfrm>
          <a:prstGeom prst="line">
            <a:avLst/>
          </a:prstGeom>
          <a:solidFill>
            <a:srgbClr val="A62C37"/>
          </a:solidFill>
          <a:ln w="25400">
            <a:solidFill>
              <a:srgbClr val="A62C37"/>
            </a:solidFill>
            <a:prstDash val="solid"/>
          </a:ln>
        </p:spPr>
      </p:sp>
      <p:sp>
        <p:nvSpPr>
          <p:cNvPr id="25" name="Shape 23"/>
          <p:cNvSpPr/>
          <p:nvPr/>
        </p:nvSpPr>
        <p:spPr>
          <a:xfrm>
            <a:off x="8359367" y="3126879"/>
            <a:ext cx="816550" cy="22622"/>
          </a:xfrm>
          <a:prstGeom prst="line">
            <a:avLst/>
          </a:prstGeom>
          <a:solidFill>
            <a:srgbClr val="A62C37"/>
          </a:solidFill>
          <a:ln w="25400">
            <a:solidFill>
              <a:srgbClr val="A62C37"/>
            </a:solidFill>
            <a:prstDash val="solid"/>
          </a:ln>
        </p:spPr>
      </p:sp>
      <p:sp>
        <p:nvSpPr>
          <p:cNvPr id="26" name="Shape 24"/>
          <p:cNvSpPr/>
          <p:nvPr/>
        </p:nvSpPr>
        <p:spPr>
          <a:xfrm>
            <a:off x="9856442" y="3126879"/>
            <a:ext cx="816550" cy="22622"/>
          </a:xfrm>
          <a:prstGeom prst="line">
            <a:avLst/>
          </a:prstGeom>
          <a:solidFill>
            <a:srgbClr val="A62C37"/>
          </a:solidFill>
          <a:ln w="25400">
            <a:solidFill>
              <a:srgbClr val="A62C37"/>
            </a:solidFill>
            <a:prstDash val="solid"/>
          </a:ln>
        </p:spPr>
      </p:sp>
      <p:sp>
        <p:nvSpPr>
          <p:cNvPr id="27" name="Shape 25"/>
          <p:cNvSpPr/>
          <p:nvPr/>
        </p:nvSpPr>
        <p:spPr>
          <a:xfrm>
            <a:off x="6567522" y="2741216"/>
            <a:ext cx="1111421" cy="771128"/>
          </a:xfrm>
          <a:prstGeom prst="rect">
            <a:avLst/>
          </a:prstGeom>
          <a:solidFill>
            <a:srgbClr val="B6BFC1"/>
          </a:solidFill>
          <a:ln w="25400">
            <a:solidFill>
              <a:srgbClr val="A62C37"/>
            </a:solidFill>
            <a:prstDash val="solid"/>
          </a:ln>
        </p:spPr>
      </p:sp>
      <p:sp>
        <p:nvSpPr>
          <p:cNvPr id="28" name="Shape 26"/>
          <p:cNvSpPr/>
          <p:nvPr/>
        </p:nvSpPr>
        <p:spPr>
          <a:xfrm>
            <a:off x="8064497" y="2741216"/>
            <a:ext cx="1111421" cy="771128"/>
          </a:xfrm>
          <a:prstGeom prst="rect">
            <a:avLst/>
          </a:prstGeom>
          <a:solidFill>
            <a:srgbClr val="B6BFC1"/>
          </a:solidFill>
          <a:ln w="25400">
            <a:solidFill>
              <a:srgbClr val="A62C37"/>
            </a:solidFill>
            <a:prstDash val="solid"/>
          </a:ln>
        </p:spPr>
      </p:sp>
      <p:sp>
        <p:nvSpPr>
          <p:cNvPr id="29" name="Shape 27"/>
          <p:cNvSpPr/>
          <p:nvPr/>
        </p:nvSpPr>
        <p:spPr>
          <a:xfrm>
            <a:off x="9561571" y="2741216"/>
            <a:ext cx="1111421" cy="771128"/>
          </a:xfrm>
          <a:prstGeom prst="rect">
            <a:avLst/>
          </a:prstGeom>
          <a:solidFill>
            <a:srgbClr val="B6BFC1"/>
          </a:solidFill>
          <a:ln w="25400">
            <a:solidFill>
              <a:srgbClr val="A62C37"/>
            </a:solidFill>
            <a:prstDash val="solid"/>
          </a:ln>
        </p:spPr>
      </p:sp>
      <p:sp>
        <p:nvSpPr>
          <p:cNvPr id="30" name="Shape 28"/>
          <p:cNvSpPr/>
          <p:nvPr/>
        </p:nvSpPr>
        <p:spPr>
          <a:xfrm>
            <a:off x="10809116" y="2741216"/>
            <a:ext cx="453617" cy="771128"/>
          </a:xfrm>
          <a:prstGeom prst="rect">
            <a:avLst/>
          </a:prstGeom>
          <a:solidFill>
            <a:srgbClr val="A62C37"/>
          </a:solidFill>
          <a:ln w="12700">
            <a:solidFill>
              <a:srgbClr val="A62C37"/>
            </a:solidFill>
            <a:prstDash val="solid"/>
          </a:ln>
        </p:spPr>
      </p:sp>
      <p:sp>
        <p:nvSpPr>
          <p:cNvPr id="31" name="Text 29"/>
          <p:cNvSpPr/>
          <p:nvPr/>
        </p:nvSpPr>
        <p:spPr>
          <a:xfrm>
            <a:off x="6427131" y="2899966"/>
            <a:ext cx="1392103" cy="284460"/>
          </a:xfrm>
          <a:prstGeom prst="rect">
            <a:avLst/>
          </a:prstGeom>
          <a:noFill/>
          <a:ln/>
        </p:spPr>
        <p:txBody>
          <a:bodyPr wrap="none" lIns="0" tIns="0" rIns="0" bIns="0" rtlCol="0" anchor="t"/>
          <a:lstStyle/>
          <a:p>
            <a:pPr algn="ctr" indent="0" marL="0">
              <a:lnSpc>
                <a:spcPct val="117000"/>
              </a:lnSpc>
              <a:buNone/>
            </a:pPr>
            <a:r>
              <a:rPr lang="en-US" sz="1600" b="1" dirty="0">
                <a:solidFill>
                  <a:srgbClr val="111418"/>
                </a:solidFill>
                <a:latin typeface="Atkinson Hyperlegible Next Bold" pitchFamily="34" charset="0"/>
                <a:ea typeface="Atkinson Hyperlegible Next Bold" pitchFamily="34" charset="-122"/>
                <a:cs typeface="Atkinson Hyperlegible Next Bold" pitchFamily="34" charset="-120"/>
              </a:rPr>
              <a:t>LDR</a:t>
            </a:r>
            <a:endParaRPr lang="en-US" sz="1600" dirty="0"/>
          </a:p>
        </p:txBody>
      </p:sp>
      <p:sp>
        <p:nvSpPr>
          <p:cNvPr id="32" name="Text 30"/>
          <p:cNvSpPr/>
          <p:nvPr/>
        </p:nvSpPr>
        <p:spPr>
          <a:xfrm>
            <a:off x="6427131" y="3317776"/>
            <a:ext cx="1392103" cy="248841"/>
          </a:xfrm>
          <a:prstGeom prst="rect">
            <a:avLst/>
          </a:prstGeom>
          <a:noFill/>
          <a:ln/>
        </p:spPr>
        <p:txBody>
          <a:bodyPr wrap="none" lIns="0" tIns="0" rIns="0" bIns="0" rtlCol="0" anchor="t"/>
          <a:lstStyle/>
          <a:p>
            <a:pPr algn="ctr" indent="0" marL="0">
              <a:lnSpc>
                <a:spcPct val="117000"/>
              </a:lnSpc>
              <a:buNone/>
            </a:pPr>
            <a:r>
              <a:rPr lang="en-US" sz="1400" dirty="0">
                <a:solidFill>
                  <a:srgbClr val="111418"/>
                </a:solidFill>
                <a:latin typeface="Atkinson Hyperlegible Next" pitchFamily="34" charset="0"/>
                <a:ea typeface="Atkinson Hyperlegible Next" pitchFamily="34" charset="-122"/>
                <a:cs typeface="Atkinson Hyperlegible Next" pitchFamily="34" charset="-120"/>
              </a:rPr>
              <a:t>sensor</a:t>
            </a:r>
            <a:endParaRPr lang="en-US" sz="1400" dirty="0"/>
          </a:p>
        </p:txBody>
      </p:sp>
      <p:sp>
        <p:nvSpPr>
          <p:cNvPr id="33" name="Text 31"/>
          <p:cNvSpPr/>
          <p:nvPr/>
        </p:nvSpPr>
        <p:spPr>
          <a:xfrm>
            <a:off x="7901484" y="2899966"/>
            <a:ext cx="1437545" cy="266700"/>
          </a:xfrm>
          <a:prstGeom prst="rect">
            <a:avLst/>
          </a:prstGeom>
          <a:noFill/>
          <a:ln/>
        </p:spPr>
        <p:txBody>
          <a:bodyPr wrap="none" lIns="0" tIns="0" rIns="0" bIns="0" rtlCol="0" anchor="t"/>
          <a:lstStyle/>
          <a:p>
            <a:pPr algn="ctr" indent="0" marL="0">
              <a:lnSpc>
                <a:spcPct val="117000"/>
              </a:lnSpc>
              <a:buNone/>
            </a:pPr>
            <a:r>
              <a:rPr lang="en-US" sz="1500" b="1" dirty="0">
                <a:solidFill>
                  <a:srgbClr val="111418"/>
                </a:solidFill>
                <a:latin typeface="Atkinson Hyperlegible Next Bold" pitchFamily="34" charset="0"/>
                <a:ea typeface="Atkinson Hyperlegible Next Bold" pitchFamily="34" charset="-122"/>
                <a:cs typeface="Atkinson Hyperlegible Next Bold" pitchFamily="34" charset="-120"/>
              </a:rPr>
              <a:t>R1 + LDR</a:t>
            </a:r>
            <a:endParaRPr lang="en-US" sz="1500" dirty="0"/>
          </a:p>
        </p:txBody>
      </p:sp>
      <p:sp>
        <p:nvSpPr>
          <p:cNvPr id="34" name="Text 32"/>
          <p:cNvSpPr/>
          <p:nvPr/>
        </p:nvSpPr>
        <p:spPr>
          <a:xfrm>
            <a:off x="7901484" y="3300016"/>
            <a:ext cx="1437545" cy="248841"/>
          </a:xfrm>
          <a:prstGeom prst="rect">
            <a:avLst/>
          </a:prstGeom>
          <a:noFill/>
          <a:ln/>
        </p:spPr>
        <p:txBody>
          <a:bodyPr wrap="none" lIns="0" tIns="0" rIns="0" bIns="0" rtlCol="0" anchor="t"/>
          <a:lstStyle/>
          <a:p>
            <a:pPr algn="ctr" indent="0" marL="0">
              <a:lnSpc>
                <a:spcPct val="117000"/>
              </a:lnSpc>
              <a:buNone/>
            </a:pPr>
            <a:r>
              <a:rPr lang="en-US" sz="1400" dirty="0">
                <a:solidFill>
                  <a:srgbClr val="111418"/>
                </a:solidFill>
                <a:latin typeface="Atkinson Hyperlegible Next" pitchFamily="34" charset="0"/>
                <a:ea typeface="Atkinson Hyperlegible Next" pitchFamily="34" charset="-122"/>
                <a:cs typeface="Atkinson Hyperlegible Next" pitchFamily="34" charset="-120"/>
              </a:rPr>
              <a:t>divider</a:t>
            </a:r>
            <a:endParaRPr lang="en-US" sz="1400" dirty="0"/>
          </a:p>
        </p:txBody>
      </p:sp>
      <p:sp>
        <p:nvSpPr>
          <p:cNvPr id="35" name="Text 33"/>
          <p:cNvSpPr/>
          <p:nvPr/>
        </p:nvSpPr>
        <p:spPr>
          <a:xfrm>
            <a:off x="9398459" y="2899966"/>
            <a:ext cx="1437545" cy="266700"/>
          </a:xfrm>
          <a:prstGeom prst="rect">
            <a:avLst/>
          </a:prstGeom>
          <a:noFill/>
          <a:ln/>
        </p:spPr>
        <p:txBody>
          <a:bodyPr wrap="none" lIns="0" tIns="0" rIns="0" bIns="0" rtlCol="0" anchor="t"/>
          <a:lstStyle/>
          <a:p>
            <a:pPr algn="ctr" indent="0" marL="0">
              <a:lnSpc>
                <a:spcPct val="117000"/>
              </a:lnSpc>
              <a:buNone/>
            </a:pPr>
            <a:r>
              <a:rPr lang="en-US" sz="1500" b="1" dirty="0">
                <a:solidFill>
                  <a:srgbClr val="111418"/>
                </a:solidFill>
                <a:latin typeface="Atkinson Hyperlegible Next Bold" pitchFamily="34" charset="0"/>
                <a:ea typeface="Atkinson Hyperlegible Next Bold" pitchFamily="34" charset="-122"/>
                <a:cs typeface="Atkinson Hyperlegible Next Bold" pitchFamily="34" charset="-120"/>
              </a:rPr>
              <a:t>Q1 / U1</a:t>
            </a:r>
            <a:endParaRPr lang="en-US" sz="1500" dirty="0"/>
          </a:p>
        </p:txBody>
      </p:sp>
      <p:sp>
        <p:nvSpPr>
          <p:cNvPr id="36" name="Text 34"/>
          <p:cNvSpPr/>
          <p:nvPr/>
        </p:nvSpPr>
        <p:spPr>
          <a:xfrm>
            <a:off x="9398459" y="3300016"/>
            <a:ext cx="1437545" cy="248841"/>
          </a:xfrm>
          <a:prstGeom prst="rect">
            <a:avLst/>
          </a:prstGeom>
          <a:noFill/>
          <a:ln/>
        </p:spPr>
        <p:txBody>
          <a:bodyPr wrap="none" lIns="0" tIns="0" rIns="0" bIns="0" rtlCol="0" anchor="t"/>
          <a:lstStyle/>
          <a:p>
            <a:pPr algn="ctr" indent="0" marL="0">
              <a:lnSpc>
                <a:spcPct val="117000"/>
              </a:lnSpc>
              <a:buNone/>
            </a:pPr>
            <a:r>
              <a:rPr lang="en-US" sz="1400" dirty="0">
                <a:solidFill>
                  <a:srgbClr val="111418"/>
                </a:solidFill>
                <a:latin typeface="Atkinson Hyperlegible Next" pitchFamily="34" charset="0"/>
                <a:ea typeface="Atkinson Hyperlegible Next" pitchFamily="34" charset="-122"/>
                <a:cs typeface="Atkinson Hyperlegible Next" pitchFamily="34" charset="-120"/>
              </a:rPr>
              <a:t>switch</a:t>
            </a:r>
            <a:endParaRPr lang="en-US" sz="1400" dirty="0"/>
          </a:p>
        </p:txBody>
      </p:sp>
      <p:sp>
        <p:nvSpPr>
          <p:cNvPr id="37" name="Text 35"/>
          <p:cNvSpPr/>
          <p:nvPr/>
        </p:nvSpPr>
        <p:spPr>
          <a:xfrm>
            <a:off x="10487259" y="2933998"/>
            <a:ext cx="1094852" cy="284460"/>
          </a:xfrm>
          <a:prstGeom prst="rect">
            <a:avLst/>
          </a:prstGeom>
          <a:noFill/>
          <a:ln/>
        </p:spPr>
        <p:txBody>
          <a:bodyPr wrap="none" lIns="0" tIns="0" rIns="0" bIns="0" rtlCol="0" anchor="t"/>
          <a:lstStyle/>
          <a:p>
            <a:pPr algn="ctr" indent="0" marL="0">
              <a:lnSpc>
                <a:spcPct val="117000"/>
              </a:lnSpc>
              <a:buNone/>
            </a:pPr>
            <a:r>
              <a:rPr lang="en-US" sz="1600" b="1" dirty="0">
                <a:solidFill>
                  <a:srgbClr val="DCE1E2"/>
                </a:solidFill>
                <a:latin typeface="Atkinson Hyperlegible Next Bold" pitchFamily="34" charset="0"/>
                <a:ea typeface="Atkinson Hyperlegible Next Bold" pitchFamily="34" charset="-122"/>
                <a:cs typeface="Atkinson Hyperlegible Next Bold" pitchFamily="34" charset="-120"/>
              </a:rPr>
              <a:t>LED</a:t>
            </a:r>
            <a:endParaRPr lang="en-US" sz="1600" dirty="0"/>
          </a:p>
        </p:txBody>
      </p:sp>
      <p:sp>
        <p:nvSpPr>
          <p:cNvPr id="38" name="Shape 36"/>
          <p:cNvSpPr/>
          <p:nvPr/>
        </p:nvSpPr>
        <p:spPr>
          <a:xfrm>
            <a:off x="7361351" y="3988792"/>
            <a:ext cx="3107454" cy="22622"/>
          </a:xfrm>
          <a:prstGeom prst="line">
            <a:avLst/>
          </a:prstGeom>
          <a:solidFill>
            <a:srgbClr val="A62C37"/>
          </a:solidFill>
          <a:ln w="25400">
            <a:solidFill>
              <a:srgbClr val="4A5154"/>
            </a:solidFill>
            <a:prstDash val="solid"/>
          </a:ln>
        </p:spPr>
      </p:sp>
      <p:sp>
        <p:nvSpPr>
          <p:cNvPr id="39" name="Text 37"/>
          <p:cNvSpPr/>
          <p:nvPr/>
        </p:nvSpPr>
        <p:spPr>
          <a:xfrm>
            <a:off x="6822607" y="4127778"/>
            <a:ext cx="1845819"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111418"/>
                </a:solidFill>
                <a:latin typeface="Atkinson Hyperlegible Next" pitchFamily="34" charset="0"/>
                <a:ea typeface="Atkinson Hyperlegible Next" pitchFamily="34" charset="-122"/>
                <a:cs typeface="Atkinson Hyperlegible Next" pitchFamily="34" charset="-120"/>
              </a:rPr>
              <a:t>VCC</a:t>
            </a:r>
            <a:endParaRPr lang="en-US" sz="1200" dirty="0"/>
          </a:p>
        </p:txBody>
      </p:sp>
      <p:sp>
        <p:nvSpPr>
          <p:cNvPr id="40" name="Text 38"/>
          <p:cNvSpPr/>
          <p:nvPr/>
        </p:nvSpPr>
        <p:spPr>
          <a:xfrm>
            <a:off x="6822607" y="4456311"/>
            <a:ext cx="1845819" cy="248841"/>
          </a:xfrm>
          <a:prstGeom prst="rect">
            <a:avLst/>
          </a:prstGeom>
          <a:noFill/>
          <a:ln/>
        </p:spPr>
        <p:txBody>
          <a:bodyPr wrap="none" lIns="0" tIns="0" rIns="0" bIns="0" rtlCol="0" anchor="t"/>
          <a:lstStyle/>
          <a:p>
            <a:pPr algn="l" indent="0" marL="0">
              <a:lnSpc>
                <a:spcPct val="117000"/>
              </a:lnSpc>
              <a:buNone/>
            </a:pPr>
            <a:r>
              <a:rPr lang="en-US" sz="1400" dirty="0">
                <a:solidFill>
                  <a:srgbClr val="111418"/>
                </a:solidFill>
                <a:latin typeface="Atkinson Hyperlegible Next" pitchFamily="34" charset="0"/>
                <a:ea typeface="Atkinson Hyperlegible Next" pitchFamily="34" charset="-122"/>
                <a:cs typeface="Atkinson Hyperlegible Next" pitchFamily="34" charset="-120"/>
              </a:rPr>
              <a:t>Power supply</a:t>
            </a:r>
            <a:endParaRPr lang="en-US" sz="1400" dirty="0"/>
          </a:p>
        </p:txBody>
      </p:sp>
      <p:sp>
        <p:nvSpPr>
          <p:cNvPr id="41" name="Text 39"/>
          <p:cNvSpPr/>
          <p:nvPr/>
        </p:nvSpPr>
        <p:spPr>
          <a:xfrm>
            <a:off x="9363039" y="4127778"/>
            <a:ext cx="1845819"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111418"/>
                </a:solidFill>
                <a:latin typeface="Atkinson Hyperlegible Next" pitchFamily="34" charset="0"/>
                <a:ea typeface="Atkinson Hyperlegible Next" pitchFamily="34" charset="-122"/>
                <a:cs typeface="Atkinson Hyperlegible Next" pitchFamily="34" charset="-120"/>
              </a:rPr>
              <a:t>GND</a:t>
            </a:r>
            <a:endParaRPr lang="en-US" sz="1200" dirty="0"/>
          </a:p>
        </p:txBody>
      </p:sp>
      <p:sp>
        <p:nvSpPr>
          <p:cNvPr id="42" name="Text 40"/>
          <p:cNvSpPr/>
          <p:nvPr/>
        </p:nvSpPr>
        <p:spPr>
          <a:xfrm>
            <a:off x="9363039" y="4456311"/>
            <a:ext cx="1845819" cy="248841"/>
          </a:xfrm>
          <a:prstGeom prst="rect">
            <a:avLst/>
          </a:prstGeom>
          <a:noFill/>
          <a:ln/>
        </p:spPr>
        <p:txBody>
          <a:bodyPr wrap="none" lIns="0" tIns="0" rIns="0" bIns="0" rtlCol="0" anchor="t"/>
          <a:lstStyle/>
          <a:p>
            <a:pPr algn="l" indent="0" marL="0">
              <a:lnSpc>
                <a:spcPct val="117000"/>
              </a:lnSpc>
              <a:buNone/>
            </a:pPr>
            <a:r>
              <a:rPr lang="en-US" sz="1400" dirty="0">
                <a:solidFill>
                  <a:srgbClr val="111418"/>
                </a:solidFill>
                <a:latin typeface="Atkinson Hyperlegible Next" pitchFamily="34" charset="0"/>
                <a:ea typeface="Atkinson Hyperlegible Next" pitchFamily="34" charset="-122"/>
                <a:cs typeface="Atkinson Hyperlegible Next" pitchFamily="34" charset="-120"/>
              </a:rPr>
              <a:t>Common return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9DA6A8"/>
                </a:solidFill>
                <a:latin typeface="Fragment Mono" pitchFamily="34" charset="0"/>
                <a:ea typeface="Fragment Mono" pitchFamily="34" charset="-122"/>
                <a:cs typeface="Fragment Mono" pitchFamily="34" charset="-120"/>
              </a:rPr>
              <a:t>IMPLEMENTATION</a:t>
            </a:r>
            <a:endParaRPr lang="en-US" sz="1200" dirty="0"/>
          </a:p>
        </p:txBody>
      </p:sp>
      <p:sp>
        <p:nvSpPr>
          <p:cNvPr id="3" name="Text 1"/>
          <p:cNvSpPr/>
          <p:nvPr/>
        </p:nvSpPr>
        <p:spPr>
          <a:xfrm>
            <a:off x="609585" y="911523"/>
            <a:ext cx="10972526" cy="558800"/>
          </a:xfrm>
          <a:prstGeom prst="rect">
            <a:avLst/>
          </a:prstGeom>
          <a:noFill/>
          <a:ln/>
        </p:spPr>
        <p:txBody>
          <a:bodyPr wrap="none" lIns="0" tIns="0" rIns="0" bIns="0" rtlCol="0" anchor="t"/>
          <a:lstStyle/>
          <a:p>
            <a:pPr algn="l" indent="0" marL="0">
              <a:lnSpc>
                <a:spcPct val="83000"/>
              </a:lnSpc>
              <a:buNone/>
            </a:pPr>
            <a:r>
              <a:rPr lang="en-US" sz="4400" b="1" spc="-44" kern="100" dirty="0">
                <a:solidFill>
                  <a:srgbClr val="F1F3F3"/>
                </a:solidFill>
                <a:latin typeface="Sofia Sans Condensed Bold" pitchFamily="34" charset="0"/>
                <a:ea typeface="Sofia Sans Condensed Bold" pitchFamily="34" charset="-122"/>
                <a:cs typeface="Sofia Sans Condensed Bold" pitchFamily="34" charset="-120"/>
              </a:rPr>
              <a:t>Circuit diagram and implementation</a:t>
            </a:r>
            <a:endParaRPr lang="en-US" sz="4400" dirty="0"/>
          </a:p>
        </p:txBody>
      </p:sp>
      <p:pic>
        <p:nvPicPr>
          <p:cNvPr id="4" name="Image 0" descr="preencoded.png">    </p:cNvPr>
          <p:cNvPicPr>
            <a:picLocks noChangeAspect="1"/>
          </p:cNvPicPr>
          <p:nvPr/>
        </p:nvPicPr>
        <p:blipFill>
          <a:blip r:embed="rId1"/>
          <a:stretch>
            <a:fillRect/>
          </a:stretch>
        </p:blipFill>
        <p:spPr>
          <a:xfrm>
            <a:off x="609585" y="1649710"/>
            <a:ext cx="7619809" cy="42862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9DA6A8"/>
                </a:solidFill>
                <a:latin typeface="Fragment Mono" pitchFamily="34" charset="0"/>
                <a:ea typeface="Fragment Mono" pitchFamily="34" charset="-122"/>
                <a:cs typeface="Fragment Mono" pitchFamily="34" charset="-120"/>
              </a:rPr>
              <a:t>CONTROL BEHAVIOUR</a:t>
            </a:r>
            <a:endParaRPr lang="en-US" sz="1200" dirty="0"/>
          </a:p>
        </p:txBody>
      </p:sp>
      <p:sp>
        <p:nvSpPr>
          <p:cNvPr id="3" name="Text 1"/>
          <p:cNvSpPr/>
          <p:nvPr/>
        </p:nvSpPr>
        <p:spPr>
          <a:xfrm>
            <a:off x="609585" y="911523"/>
            <a:ext cx="10972526" cy="558800"/>
          </a:xfrm>
          <a:prstGeom prst="rect">
            <a:avLst/>
          </a:prstGeom>
          <a:noFill/>
          <a:ln/>
        </p:spPr>
        <p:txBody>
          <a:bodyPr wrap="none" lIns="0" tIns="0" rIns="0" bIns="0" rtlCol="0" anchor="t"/>
          <a:lstStyle/>
          <a:p>
            <a:pPr algn="l" indent="0" marL="0">
              <a:lnSpc>
                <a:spcPct val="83000"/>
              </a:lnSpc>
              <a:buNone/>
            </a:pPr>
            <a:r>
              <a:rPr lang="en-US" sz="4400" b="1" spc="-44" kern="100" dirty="0">
                <a:solidFill>
                  <a:srgbClr val="F1F3F3"/>
                </a:solidFill>
                <a:latin typeface="Sofia Sans Condensed Bold" pitchFamily="34" charset="0"/>
                <a:ea typeface="Sofia Sans Condensed Bold" pitchFamily="34" charset="-122"/>
                <a:cs typeface="Sofia Sans Condensed Bold" pitchFamily="34" charset="-120"/>
              </a:rPr>
              <a:t>Bright means OFF; darkness means ON</a:t>
            </a:r>
            <a:endParaRPr lang="en-US" sz="4400" dirty="0"/>
          </a:p>
        </p:txBody>
      </p:sp>
      <p:sp>
        <p:nvSpPr>
          <p:cNvPr id="4" name="Text 2"/>
          <p:cNvSpPr/>
          <p:nvPr/>
        </p:nvSpPr>
        <p:spPr>
          <a:xfrm>
            <a:off x="609585" y="1671935"/>
            <a:ext cx="11582110" cy="319980"/>
          </a:xfrm>
          <a:prstGeom prst="rect">
            <a:avLst/>
          </a:prstGeom>
          <a:noFill/>
          <a:ln/>
        </p:spPr>
        <p:txBody>
          <a:bodyPr wrap="none" lIns="0" tIns="0" rIns="0" bIns="0" rtlCol="0" anchor="t"/>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physical circuit changes continuously, but the system decision can be explained in two states.</a:t>
            </a:r>
            <a:endParaRPr lang="en-US" sz="1800" dirty="0"/>
          </a:p>
        </p:txBody>
      </p:sp>
      <p:sp>
        <p:nvSpPr>
          <p:cNvPr id="5" name="Text 3"/>
          <p:cNvSpPr/>
          <p:nvPr/>
        </p:nvSpPr>
        <p:spPr>
          <a:xfrm>
            <a:off x="609585" y="2220516"/>
            <a:ext cx="857923"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01</a:t>
            </a:r>
            <a:endParaRPr lang="en-US" sz="1800" dirty="0"/>
          </a:p>
        </p:txBody>
      </p:sp>
      <p:sp>
        <p:nvSpPr>
          <p:cNvPr id="6" name="Shape 4"/>
          <p:cNvSpPr/>
          <p:nvPr/>
        </p:nvSpPr>
        <p:spPr>
          <a:xfrm>
            <a:off x="609585" y="2540595"/>
            <a:ext cx="1950592" cy="19050"/>
          </a:xfrm>
          <a:prstGeom prst="rect">
            <a:avLst/>
          </a:prstGeom>
          <a:solidFill>
            <a:srgbClr val="A62C37"/>
          </a:solidFill>
          <a:ln/>
        </p:spPr>
      </p:sp>
      <p:sp>
        <p:nvSpPr>
          <p:cNvPr id="7" name="Text 5"/>
          <p:cNvSpPr/>
          <p:nvPr/>
        </p:nvSpPr>
        <p:spPr>
          <a:xfrm>
            <a:off x="609585" y="2698671"/>
            <a:ext cx="1950691"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Daytime</a:t>
            </a:r>
            <a:endParaRPr lang="en-US" sz="1800" dirty="0"/>
          </a:p>
        </p:txBody>
      </p:sp>
      <p:sp>
        <p:nvSpPr>
          <p:cNvPr id="8" name="Text 6"/>
          <p:cNvSpPr/>
          <p:nvPr/>
        </p:nvSpPr>
        <p:spPr>
          <a:xfrm>
            <a:off x="609585" y="3159026"/>
            <a:ext cx="1950691"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LDR detects high light intensity.</a:t>
            </a:r>
            <a:endParaRPr lang="en-US" sz="1800" dirty="0"/>
          </a:p>
        </p:txBody>
      </p:sp>
      <p:sp>
        <p:nvSpPr>
          <p:cNvPr id="9" name="Text 7"/>
          <p:cNvSpPr/>
          <p:nvPr/>
        </p:nvSpPr>
        <p:spPr>
          <a:xfrm>
            <a:off x="2864969" y="2220516"/>
            <a:ext cx="889672"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02</a:t>
            </a:r>
            <a:endParaRPr lang="en-US" sz="1800" dirty="0"/>
          </a:p>
        </p:txBody>
      </p:sp>
      <p:sp>
        <p:nvSpPr>
          <p:cNvPr id="10" name="Shape 8"/>
          <p:cNvSpPr/>
          <p:nvPr/>
        </p:nvSpPr>
        <p:spPr>
          <a:xfrm>
            <a:off x="2864969" y="2540595"/>
            <a:ext cx="1950592" cy="19050"/>
          </a:xfrm>
          <a:prstGeom prst="rect">
            <a:avLst/>
          </a:prstGeom>
          <a:solidFill>
            <a:srgbClr val="A62C37"/>
          </a:solidFill>
          <a:ln/>
        </p:spPr>
      </p:sp>
      <p:sp>
        <p:nvSpPr>
          <p:cNvPr id="11" name="Text 9"/>
          <p:cNvSpPr/>
          <p:nvPr/>
        </p:nvSpPr>
        <p:spPr>
          <a:xfrm>
            <a:off x="2864969" y="2698671"/>
            <a:ext cx="1950691"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Sense</a:t>
            </a:r>
            <a:endParaRPr lang="en-US" sz="1800" dirty="0"/>
          </a:p>
        </p:txBody>
      </p:sp>
      <p:sp>
        <p:nvSpPr>
          <p:cNvPr id="12" name="Text 10"/>
          <p:cNvSpPr/>
          <p:nvPr/>
        </p:nvSpPr>
        <p:spPr>
          <a:xfrm>
            <a:off x="2864969" y="3159026"/>
            <a:ext cx="1950691"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circuit identifies bright conditions.</a:t>
            </a:r>
            <a:endParaRPr lang="en-US" sz="1800" dirty="0"/>
          </a:p>
        </p:txBody>
      </p:sp>
      <p:sp>
        <p:nvSpPr>
          <p:cNvPr id="13" name="Text 11"/>
          <p:cNvSpPr/>
          <p:nvPr/>
        </p:nvSpPr>
        <p:spPr>
          <a:xfrm>
            <a:off x="5120353" y="2220516"/>
            <a:ext cx="894931"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03</a:t>
            </a:r>
            <a:endParaRPr lang="en-US" sz="1800" dirty="0"/>
          </a:p>
        </p:txBody>
      </p:sp>
      <p:sp>
        <p:nvSpPr>
          <p:cNvPr id="14" name="Shape 12"/>
          <p:cNvSpPr/>
          <p:nvPr/>
        </p:nvSpPr>
        <p:spPr>
          <a:xfrm>
            <a:off x="5120353" y="2540595"/>
            <a:ext cx="1950889" cy="19050"/>
          </a:xfrm>
          <a:prstGeom prst="rect">
            <a:avLst/>
          </a:prstGeom>
          <a:solidFill>
            <a:srgbClr val="A62C37"/>
          </a:solidFill>
          <a:ln/>
        </p:spPr>
      </p:sp>
      <p:sp>
        <p:nvSpPr>
          <p:cNvPr id="15" name="Text 13"/>
          <p:cNvSpPr/>
          <p:nvPr/>
        </p:nvSpPr>
        <p:spPr>
          <a:xfrm>
            <a:off x="5120353" y="2698671"/>
            <a:ext cx="1950889"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OFF</a:t>
            </a:r>
            <a:endParaRPr lang="en-US" sz="1800" dirty="0"/>
          </a:p>
        </p:txBody>
      </p:sp>
      <p:sp>
        <p:nvSpPr>
          <p:cNvPr id="16" name="Text 14"/>
          <p:cNvSpPr/>
          <p:nvPr/>
        </p:nvSpPr>
        <p:spPr>
          <a:xfrm>
            <a:off x="5120353" y="3159026"/>
            <a:ext cx="1950889"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street light remains OFF.</a:t>
            </a:r>
            <a:endParaRPr lang="en-US" sz="1800" dirty="0"/>
          </a:p>
        </p:txBody>
      </p:sp>
      <p:sp>
        <p:nvSpPr>
          <p:cNvPr id="17" name="Text 15"/>
          <p:cNvSpPr/>
          <p:nvPr/>
        </p:nvSpPr>
        <p:spPr>
          <a:xfrm>
            <a:off x="7375936" y="2220516"/>
            <a:ext cx="901578"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04</a:t>
            </a:r>
            <a:endParaRPr lang="en-US" sz="1800" dirty="0"/>
          </a:p>
        </p:txBody>
      </p:sp>
      <p:sp>
        <p:nvSpPr>
          <p:cNvPr id="18" name="Shape 16"/>
          <p:cNvSpPr/>
          <p:nvPr/>
        </p:nvSpPr>
        <p:spPr>
          <a:xfrm>
            <a:off x="7375936" y="2540595"/>
            <a:ext cx="1950592" cy="19050"/>
          </a:xfrm>
          <a:prstGeom prst="rect">
            <a:avLst/>
          </a:prstGeom>
          <a:solidFill>
            <a:srgbClr val="A62C37"/>
          </a:solidFill>
          <a:ln/>
        </p:spPr>
      </p:sp>
      <p:sp>
        <p:nvSpPr>
          <p:cNvPr id="19" name="Text 17"/>
          <p:cNvSpPr/>
          <p:nvPr/>
        </p:nvSpPr>
        <p:spPr>
          <a:xfrm>
            <a:off x="7375936" y="2698671"/>
            <a:ext cx="1950691"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Night</a:t>
            </a:r>
            <a:endParaRPr lang="en-US" sz="1800" dirty="0"/>
          </a:p>
        </p:txBody>
      </p:sp>
      <p:sp>
        <p:nvSpPr>
          <p:cNvPr id="20" name="Text 18"/>
          <p:cNvSpPr/>
          <p:nvPr/>
        </p:nvSpPr>
        <p:spPr>
          <a:xfrm>
            <a:off x="7375936" y="3159026"/>
            <a:ext cx="1950691"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LDR detects low light intensity.</a:t>
            </a:r>
            <a:endParaRPr lang="en-US" sz="1800" dirty="0"/>
          </a:p>
        </p:txBody>
      </p:sp>
      <p:sp>
        <p:nvSpPr>
          <p:cNvPr id="21" name="Text 19"/>
          <p:cNvSpPr/>
          <p:nvPr/>
        </p:nvSpPr>
        <p:spPr>
          <a:xfrm>
            <a:off x="9631320" y="2220516"/>
            <a:ext cx="897213"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05</a:t>
            </a:r>
            <a:endParaRPr lang="en-US" sz="1800" dirty="0"/>
          </a:p>
        </p:txBody>
      </p:sp>
      <p:sp>
        <p:nvSpPr>
          <p:cNvPr id="22" name="Shape 20"/>
          <p:cNvSpPr/>
          <p:nvPr/>
        </p:nvSpPr>
        <p:spPr>
          <a:xfrm>
            <a:off x="9631320" y="2540595"/>
            <a:ext cx="1950691" cy="19050"/>
          </a:xfrm>
          <a:prstGeom prst="rect">
            <a:avLst/>
          </a:prstGeom>
          <a:solidFill>
            <a:srgbClr val="A62C37"/>
          </a:solidFill>
          <a:ln/>
        </p:spPr>
      </p:sp>
      <p:sp>
        <p:nvSpPr>
          <p:cNvPr id="23" name="Text 21"/>
          <p:cNvSpPr/>
          <p:nvPr/>
        </p:nvSpPr>
        <p:spPr>
          <a:xfrm>
            <a:off x="9631320" y="2698671"/>
            <a:ext cx="1950790"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ON</a:t>
            </a:r>
            <a:endParaRPr lang="en-US" sz="1800" dirty="0"/>
          </a:p>
        </p:txBody>
      </p:sp>
      <p:sp>
        <p:nvSpPr>
          <p:cNvPr id="24" name="Text 22"/>
          <p:cNvSpPr/>
          <p:nvPr/>
        </p:nvSpPr>
        <p:spPr>
          <a:xfrm>
            <a:off x="9631320" y="3159026"/>
            <a:ext cx="1950790" cy="1279922"/>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circuit identifies darkness and turns the light ON.</a:t>
            </a:r>
            <a:endParaRPr lang="en-US" sz="1800" dirty="0"/>
          </a:p>
        </p:txBody>
      </p:sp>
      <p:sp>
        <p:nvSpPr>
          <p:cNvPr id="25" name="Shape 23"/>
          <p:cNvSpPr/>
          <p:nvPr/>
        </p:nvSpPr>
        <p:spPr>
          <a:xfrm>
            <a:off x="609585" y="5356920"/>
            <a:ext cx="10972526" cy="891480"/>
          </a:xfrm>
          <a:prstGeom prst="roundRect">
            <a:avLst>
              <a:gd name="adj" fmla="val 3846"/>
            </a:avLst>
          </a:prstGeom>
          <a:solidFill>
            <a:srgbClr val="651B21"/>
          </a:solidFill>
          <a:ln/>
        </p:spPr>
      </p:sp>
      <p:sp>
        <p:nvSpPr>
          <p:cNvPr id="26" name="Text 24"/>
          <p:cNvSpPr/>
          <p:nvPr/>
        </p:nvSpPr>
        <p:spPr>
          <a:xfrm>
            <a:off x="838179" y="5642670"/>
            <a:ext cx="11124922"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The switching threshold depends on the circuit design.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9DA6A8"/>
                </a:solidFill>
                <a:latin typeface="Fragment Mono" pitchFamily="34" charset="0"/>
                <a:ea typeface="Fragment Mono" pitchFamily="34" charset="-122"/>
                <a:cs typeface="Fragment Mono" pitchFamily="34" charset="-120"/>
              </a:rPr>
              <a:t>DIGITAL ABSTRACTION</a:t>
            </a:r>
            <a:endParaRPr lang="en-US" sz="1200" dirty="0"/>
          </a:p>
        </p:txBody>
      </p:sp>
      <p:sp>
        <p:nvSpPr>
          <p:cNvPr id="3" name="Text 1"/>
          <p:cNvSpPr/>
          <p:nvPr/>
        </p:nvSpPr>
        <p:spPr>
          <a:xfrm>
            <a:off x="609585" y="911523"/>
            <a:ext cx="10972526" cy="558800"/>
          </a:xfrm>
          <a:prstGeom prst="rect">
            <a:avLst/>
          </a:prstGeom>
          <a:noFill/>
          <a:ln/>
        </p:spPr>
        <p:txBody>
          <a:bodyPr wrap="none" lIns="0" tIns="0" rIns="0" bIns="0" rtlCol="0" anchor="t"/>
          <a:lstStyle/>
          <a:p>
            <a:pPr algn="l" indent="0" marL="0">
              <a:lnSpc>
                <a:spcPct val="83000"/>
              </a:lnSpc>
              <a:buNone/>
            </a:pPr>
            <a:r>
              <a:rPr lang="en-US" sz="4400" b="1" spc="-44" kern="100" dirty="0">
                <a:solidFill>
                  <a:srgbClr val="F1F3F3"/>
                </a:solidFill>
                <a:latin typeface="Sofia Sans Condensed Bold" pitchFamily="34" charset="0"/>
                <a:ea typeface="Sofia Sans Condensed Bold" pitchFamily="34" charset="-122"/>
                <a:cs typeface="Sofia Sans Condensed Bold" pitchFamily="34" charset="-120"/>
              </a:rPr>
              <a:t>The digital model is simply </a:t>
            </a:r>
            <a:pPr algn="l" indent="0" marL="0">
              <a:lnSpc>
                <a:spcPct val="83000"/>
              </a:lnSpc>
              <a:buNone/>
            </a:pPr>
            <a:r>
              <a:rPr lang="en-US" sz="4400" b="1" spc="-44" kern="100" dirty="0">
                <a:solidFill>
                  <a:srgbClr val="FFFFFF"/>
                </a:solidFill>
                <a:latin typeface="Sofia Sans Condensed Bold" pitchFamily="34" charset="0"/>
                <a:ea typeface="Sofia Sans Condensed Bold" pitchFamily="34" charset="-122"/>
                <a:cs typeface="Sofia Sans Condensed Bold" pitchFamily="34" charset="-120"/>
              </a:rPr>
              <a:t>L = D</a:t>
            </a:r>
            <a:endParaRPr lang="en-US" sz="4400" dirty="0"/>
          </a:p>
        </p:txBody>
      </p:sp>
      <p:sp>
        <p:nvSpPr>
          <p:cNvPr id="4" name="Text 2"/>
          <p:cNvSpPr/>
          <p:nvPr/>
        </p:nvSpPr>
        <p:spPr>
          <a:xfrm>
            <a:off x="609585" y="1737658"/>
            <a:ext cx="5257668" cy="1013420"/>
          </a:xfrm>
          <a:prstGeom prst="rect">
            <a:avLst/>
          </a:prstGeom>
          <a:noFill/>
          <a:ln/>
        </p:spPr>
        <p:txBody>
          <a:bodyPr wrap="none" lIns="0" tIns="0" rIns="0" bIns="0" rtlCol="0" anchor="t"/>
          <a:lstStyle/>
          <a:p>
            <a:pPr algn="l" indent="0" marL="0">
              <a:lnSpc>
                <a:spcPct val="79000"/>
              </a:lnSpc>
              <a:buNone/>
            </a:pPr>
            <a:r>
              <a:rPr lang="en-US" sz="8400" b="1" spc="-84" kern="100" dirty="0">
                <a:solidFill>
                  <a:srgbClr val="F1F3F3"/>
                </a:solidFill>
                <a:latin typeface="Sofia Sans Condensed Bold" pitchFamily="34" charset="0"/>
                <a:ea typeface="Sofia Sans Condensed Bold" pitchFamily="34" charset="-122"/>
                <a:cs typeface="Sofia Sans Condensed Bold" pitchFamily="34" charset="-120"/>
              </a:rPr>
              <a:t>D → L</a:t>
            </a:r>
            <a:endParaRPr lang="en-US" sz="8400" dirty="0"/>
          </a:p>
        </p:txBody>
      </p:sp>
      <p:sp>
        <p:nvSpPr>
          <p:cNvPr id="5" name="Text 3"/>
          <p:cNvSpPr/>
          <p:nvPr/>
        </p:nvSpPr>
        <p:spPr>
          <a:xfrm>
            <a:off x="609585" y="2930624"/>
            <a:ext cx="5257668" cy="1413272"/>
          </a:xfrm>
          <a:prstGeom prst="rect">
            <a:avLst/>
          </a:prstGeom>
          <a:noFill/>
          <a:ln/>
        </p:spPr>
        <p:txBody>
          <a:bodyPr wrap="square" lIns="0" tIns="0" rIns="0" bIns="0" rtlCol="0" anchor="t">
            <a:normAutofit/>
          </a:bodyPr>
          <a:lstStyle/>
          <a:p>
            <a:pPr algn="l" indent="0" marL="0">
              <a:lnSpc>
                <a:spcPct val="117000"/>
              </a:lnSpc>
              <a:spcAft>
                <a:spcPts val="1000"/>
              </a:spcAft>
              <a:buNone/>
            </a:pPr>
            <a:r>
              <a:rPr lang="en-US" sz="1800" b="1" dirty="0">
                <a:solidFill>
                  <a:srgbClr val="DCE1E2"/>
                </a:solidFill>
                <a:latin typeface="Atkinson Hyperlegible Next Bold" pitchFamily="34" charset="0"/>
                <a:ea typeface="Atkinson Hyperlegible Next Bold" pitchFamily="34" charset="-122"/>
                <a:cs typeface="Atkinson Hyperlegible Next Bold" pitchFamily="34" charset="-120"/>
              </a:rPr>
              <a:t>Input D:</a:t>
            </a:r>
            <a:pPr algn="l" indent="0" marL="0">
              <a:lnSpc>
                <a:spcPct val="117000"/>
              </a:lnSpc>
              <a:spcAft>
                <a:spcPts val="1000"/>
              </a:spcAft>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 D = 0 means bright conditions; D = 1 means darkness detected.</a:t>
            </a:r>
            <a:endParaRPr lang="en-US" sz="1800" dirty="0"/>
          </a:p>
          <a:p>
            <a:pPr algn="l" indent="0" marL="0">
              <a:lnSpc>
                <a:spcPct val="117000"/>
              </a:lnSpc>
              <a:buNone/>
            </a:pPr>
            <a:r>
              <a:rPr lang="en-US" sz="1800" b="1" dirty="0">
                <a:solidFill>
                  <a:srgbClr val="DCE1E2"/>
                </a:solidFill>
                <a:latin typeface="Atkinson Hyperlegible Next Bold" pitchFamily="34" charset="0"/>
                <a:ea typeface="Atkinson Hyperlegible Next Bold" pitchFamily="34" charset="-122"/>
                <a:cs typeface="Atkinson Hyperlegible Next Bold" pitchFamily="34" charset="-120"/>
              </a:rPr>
              <a:t>Output L:</a:t>
            </a:r>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 L = 0 means the light is OFF; L = 1 means the light is ON.</a:t>
            </a:r>
            <a:endParaRPr lang="en-US" sz="1800" dirty="0"/>
          </a:p>
        </p:txBody>
      </p:sp>
      <p:sp>
        <p:nvSpPr>
          <p:cNvPr id="6" name="Text 4"/>
          <p:cNvSpPr/>
          <p:nvPr/>
        </p:nvSpPr>
        <p:spPr>
          <a:xfrm>
            <a:off x="609585" y="4480104"/>
            <a:ext cx="5257668"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DCE1E2"/>
                </a:solidFill>
                <a:latin typeface="Fragment Mono" pitchFamily="34" charset="0"/>
                <a:ea typeface="Fragment Mono" pitchFamily="34" charset="-122"/>
                <a:cs typeface="Fragment Mono" pitchFamily="34" charset="-120"/>
              </a:rPr>
              <a:t>DIRECT LOGIC CONNECTION: D → L</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24442" y="2406749"/>
          <a:ext cx="5257669" cy="914400"/>
        </p:xfrm>
        <a:graphic>
          <a:graphicData uri="http://schemas.openxmlformats.org/drawingml/2006/table">
            <a:tbl>
              <a:tblPr/>
              <a:tblGrid>
                <a:gridCol w="1787580"/>
                <a:gridCol w="1156663"/>
                <a:gridCol w="2313426"/>
              </a:tblGrid>
              <a:tr h="515429">
                <a:tc>
                  <a:txBody>
                    <a:bodyPr/>
                    <a:lstStyle/>
                    <a:p>
                      <a:pPr algn="l" indent="0" marL="0">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Condition</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Input D</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Output L</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r>
              <a:tr h="515429">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Bright</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0</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0 (OFF)</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r>
              <a:tr h="502729">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Dark</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1</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algn="l" indent="0" marL="0">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1 (ON)</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A62C37"/>
                      </a:solidFill>
                      <a:prstDash val="solid"/>
                      <a:round/>
                      <a:headEnd type="none" w="med" len="med"/>
                      <a:tailEnd type="none" w="med" len="med"/>
                    </a:lnL>
                    <a:lnR w="12700" cap="flat" cmpd="sng" algn="ctr">
                      <a:solidFill>
                        <a:srgbClr val="A62C37"/>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A62C37"/>
                      </a:solidFill>
                      <a:prstDash val="solid"/>
                      <a:round/>
                      <a:headEnd type="none" w="med" len="med"/>
                      <a:tailEnd type="none" w="med" len="med"/>
                    </a:lnB>
                    <a:solidFill>
                      <a:srgbClr val="A62C37"/>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9DA6A8"/>
                </a:solidFill>
                <a:latin typeface="Fragment Mono" pitchFamily="34" charset="0"/>
                <a:ea typeface="Fragment Mono" pitchFamily="34" charset="-122"/>
                <a:cs typeface="Fragment Mono" pitchFamily="34" charset="-120"/>
              </a:rPr>
              <a:t>LOGISIM MODEL</a:t>
            </a:r>
            <a:endParaRPr lang="en-US" sz="1200" dirty="0"/>
          </a:p>
        </p:txBody>
      </p:sp>
      <p:sp>
        <p:nvSpPr>
          <p:cNvPr id="3" name="Text 1"/>
          <p:cNvSpPr/>
          <p:nvPr/>
        </p:nvSpPr>
        <p:spPr>
          <a:xfrm>
            <a:off x="609585" y="911523"/>
            <a:ext cx="10972526" cy="558800"/>
          </a:xfrm>
          <a:prstGeom prst="rect">
            <a:avLst/>
          </a:prstGeom>
          <a:noFill/>
          <a:ln/>
        </p:spPr>
        <p:txBody>
          <a:bodyPr wrap="none" lIns="0" tIns="0" rIns="0" bIns="0" rtlCol="0" anchor="t"/>
          <a:lstStyle/>
          <a:p>
            <a:pPr algn="l" indent="0" marL="0">
              <a:lnSpc>
                <a:spcPct val="83000"/>
              </a:lnSpc>
              <a:buNone/>
            </a:pPr>
            <a:r>
              <a:rPr lang="en-US" sz="4400" b="1" spc="-44" kern="100" dirty="0">
                <a:solidFill>
                  <a:srgbClr val="F1F3F3"/>
                </a:solidFill>
                <a:latin typeface="Sofia Sans Condensed Bold" pitchFamily="34" charset="0"/>
                <a:ea typeface="Sofia Sans Condensed Bold" pitchFamily="34" charset="-122"/>
                <a:cs typeface="Sofia Sans Condensed Bold" pitchFamily="34" charset="-120"/>
              </a:rPr>
              <a:t>Logisim verifies that the output follows the input</a:t>
            </a:r>
            <a:endParaRPr lang="en-US" sz="4400" dirty="0"/>
          </a:p>
        </p:txBody>
      </p:sp>
      <p:sp>
        <p:nvSpPr>
          <p:cNvPr id="4" name="Text 2"/>
          <p:cNvSpPr/>
          <p:nvPr/>
        </p:nvSpPr>
        <p:spPr>
          <a:xfrm>
            <a:off x="609585" y="1671935"/>
            <a:ext cx="11582110" cy="319980"/>
          </a:xfrm>
          <a:prstGeom prst="rect">
            <a:avLst/>
          </a:prstGeom>
          <a:noFill/>
          <a:ln/>
        </p:spPr>
        <p:txBody>
          <a:bodyPr wrap="none" lIns="0" tIns="0" rIns="0" bIns="0" rtlCol="0" anchor="t"/>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digital model uses a binary input switch connected directly to an output LED.</a:t>
            </a:r>
            <a:endParaRPr lang="en-US" sz="1800" dirty="0"/>
          </a:p>
        </p:txBody>
      </p:sp>
      <p:sp>
        <p:nvSpPr>
          <p:cNvPr id="5" name="Text 3"/>
          <p:cNvSpPr/>
          <p:nvPr/>
        </p:nvSpPr>
        <p:spPr>
          <a:xfrm>
            <a:off x="609585" y="2198291"/>
            <a:ext cx="857923"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01</a:t>
            </a:r>
            <a:endParaRPr lang="en-US" sz="1800" dirty="0"/>
          </a:p>
        </p:txBody>
      </p:sp>
      <p:sp>
        <p:nvSpPr>
          <p:cNvPr id="6" name="Shape 4"/>
          <p:cNvSpPr/>
          <p:nvPr/>
        </p:nvSpPr>
        <p:spPr>
          <a:xfrm>
            <a:off x="609585" y="2518370"/>
            <a:ext cx="1375336" cy="19050"/>
          </a:xfrm>
          <a:prstGeom prst="rect">
            <a:avLst/>
          </a:prstGeom>
          <a:solidFill>
            <a:srgbClr val="A62C37"/>
          </a:solidFill>
          <a:ln/>
        </p:spPr>
      </p:sp>
      <p:sp>
        <p:nvSpPr>
          <p:cNvPr id="7" name="Text 5"/>
          <p:cNvSpPr/>
          <p:nvPr/>
        </p:nvSpPr>
        <p:spPr>
          <a:xfrm>
            <a:off x="609585" y="2676446"/>
            <a:ext cx="1375336"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Add</a:t>
            </a:r>
            <a:endParaRPr lang="en-US" sz="1800" dirty="0"/>
          </a:p>
        </p:txBody>
      </p:sp>
      <p:sp>
        <p:nvSpPr>
          <p:cNvPr id="8" name="Text 6"/>
          <p:cNvSpPr/>
          <p:nvPr/>
        </p:nvSpPr>
        <p:spPr>
          <a:xfrm>
            <a:off x="609585" y="3136801"/>
            <a:ext cx="1375336" cy="1279922"/>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Add a binary input switch and an output LED.</a:t>
            </a:r>
            <a:endParaRPr lang="en-US" sz="1800" dirty="0"/>
          </a:p>
        </p:txBody>
      </p:sp>
      <p:sp>
        <p:nvSpPr>
          <p:cNvPr id="9" name="Text 7"/>
          <p:cNvSpPr/>
          <p:nvPr/>
        </p:nvSpPr>
        <p:spPr>
          <a:xfrm>
            <a:off x="2137317" y="2198291"/>
            <a:ext cx="889672"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02</a:t>
            </a:r>
            <a:endParaRPr lang="en-US" sz="1800" dirty="0"/>
          </a:p>
        </p:txBody>
      </p:sp>
      <p:sp>
        <p:nvSpPr>
          <p:cNvPr id="10" name="Shape 8"/>
          <p:cNvSpPr/>
          <p:nvPr/>
        </p:nvSpPr>
        <p:spPr>
          <a:xfrm>
            <a:off x="2137317" y="2518370"/>
            <a:ext cx="1375336" cy="19050"/>
          </a:xfrm>
          <a:prstGeom prst="rect">
            <a:avLst/>
          </a:prstGeom>
          <a:solidFill>
            <a:srgbClr val="A62C37"/>
          </a:solidFill>
          <a:ln/>
        </p:spPr>
      </p:sp>
      <p:sp>
        <p:nvSpPr>
          <p:cNvPr id="11" name="Text 9"/>
          <p:cNvSpPr/>
          <p:nvPr/>
        </p:nvSpPr>
        <p:spPr>
          <a:xfrm>
            <a:off x="2137317" y="2676446"/>
            <a:ext cx="1375336"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Connect</a:t>
            </a:r>
            <a:endParaRPr lang="en-US" sz="1800" dirty="0"/>
          </a:p>
        </p:txBody>
      </p:sp>
      <p:sp>
        <p:nvSpPr>
          <p:cNvPr id="12" name="Text 10"/>
          <p:cNvSpPr/>
          <p:nvPr/>
        </p:nvSpPr>
        <p:spPr>
          <a:xfrm>
            <a:off x="2137317" y="3136801"/>
            <a:ext cx="1375336"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Connect the input directly to the output.</a:t>
            </a:r>
            <a:endParaRPr lang="en-US" sz="1800" dirty="0"/>
          </a:p>
        </p:txBody>
      </p:sp>
      <p:sp>
        <p:nvSpPr>
          <p:cNvPr id="13" name="Text 11"/>
          <p:cNvSpPr/>
          <p:nvPr/>
        </p:nvSpPr>
        <p:spPr>
          <a:xfrm>
            <a:off x="3665049" y="2198291"/>
            <a:ext cx="894931"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03</a:t>
            </a:r>
            <a:endParaRPr lang="en-US" sz="1800" dirty="0"/>
          </a:p>
        </p:txBody>
      </p:sp>
      <p:sp>
        <p:nvSpPr>
          <p:cNvPr id="14" name="Shape 12"/>
          <p:cNvSpPr/>
          <p:nvPr/>
        </p:nvSpPr>
        <p:spPr>
          <a:xfrm>
            <a:off x="3665049" y="2518370"/>
            <a:ext cx="1375336" cy="19050"/>
          </a:xfrm>
          <a:prstGeom prst="rect">
            <a:avLst/>
          </a:prstGeom>
          <a:solidFill>
            <a:srgbClr val="A62C37"/>
          </a:solidFill>
          <a:ln/>
        </p:spPr>
      </p:sp>
      <p:sp>
        <p:nvSpPr>
          <p:cNvPr id="15" name="Text 13"/>
          <p:cNvSpPr/>
          <p:nvPr/>
        </p:nvSpPr>
        <p:spPr>
          <a:xfrm>
            <a:off x="3665049" y="2676446"/>
            <a:ext cx="1375336"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Test 0</a:t>
            </a:r>
            <a:endParaRPr lang="en-US" sz="1800" dirty="0"/>
          </a:p>
        </p:txBody>
      </p:sp>
      <p:sp>
        <p:nvSpPr>
          <p:cNvPr id="16" name="Text 14"/>
          <p:cNvSpPr/>
          <p:nvPr/>
        </p:nvSpPr>
        <p:spPr>
          <a:xfrm>
            <a:off x="3665049" y="3136801"/>
            <a:ext cx="1375336"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Verify input 0 gives output 0.</a:t>
            </a:r>
            <a:endParaRPr lang="en-US" sz="1800" dirty="0"/>
          </a:p>
        </p:txBody>
      </p:sp>
      <p:sp>
        <p:nvSpPr>
          <p:cNvPr id="17" name="Text 15"/>
          <p:cNvSpPr/>
          <p:nvPr/>
        </p:nvSpPr>
        <p:spPr>
          <a:xfrm>
            <a:off x="5192781" y="2198291"/>
            <a:ext cx="901578" cy="228600"/>
          </a:xfrm>
          <a:prstGeom prst="rect">
            <a:avLst/>
          </a:prstGeom>
          <a:noFill/>
          <a:ln/>
        </p:spPr>
        <p:txBody>
          <a:bodyPr wrap="none" lIns="0" tIns="0" rIns="0" bIns="0" rtlCol="0" anchor="t"/>
          <a:lstStyle/>
          <a:p>
            <a:pPr algn="l" indent="0" marL="0">
              <a:lnSpc>
                <a:spcPct val="83000"/>
              </a:lnSpc>
              <a:buNone/>
            </a:pPr>
            <a:r>
              <a:rPr lang="en-US" sz="1800" dirty="0">
                <a:solidFill>
                  <a:srgbClr val="9DA6A8"/>
                </a:solidFill>
                <a:latin typeface="Atkinson Hyperlegible Next SemiBold" pitchFamily="34" charset="0"/>
                <a:ea typeface="Atkinson Hyperlegible Next SemiBold" pitchFamily="34" charset="-122"/>
                <a:cs typeface="Atkinson Hyperlegible Next SemiBold" pitchFamily="34" charset="-120"/>
              </a:rPr>
              <a:t>04</a:t>
            </a:r>
            <a:endParaRPr lang="en-US" sz="1800" dirty="0"/>
          </a:p>
        </p:txBody>
      </p:sp>
      <p:sp>
        <p:nvSpPr>
          <p:cNvPr id="18" name="Shape 16"/>
          <p:cNvSpPr/>
          <p:nvPr/>
        </p:nvSpPr>
        <p:spPr>
          <a:xfrm>
            <a:off x="5192781" y="2518370"/>
            <a:ext cx="1375336" cy="19050"/>
          </a:xfrm>
          <a:prstGeom prst="rect">
            <a:avLst/>
          </a:prstGeom>
          <a:solidFill>
            <a:srgbClr val="A62C37"/>
          </a:solidFill>
          <a:ln/>
        </p:spPr>
      </p:sp>
      <p:sp>
        <p:nvSpPr>
          <p:cNvPr id="19" name="Text 17"/>
          <p:cNvSpPr/>
          <p:nvPr/>
        </p:nvSpPr>
        <p:spPr>
          <a:xfrm>
            <a:off x="5192781" y="2676446"/>
            <a:ext cx="1375435" cy="297160"/>
          </a:xfrm>
          <a:prstGeom prst="rect">
            <a:avLst/>
          </a:prstGeom>
          <a:noFill/>
          <a:ln/>
        </p:spPr>
        <p:txBody>
          <a:bodyPr wrap="none" lIns="0" tIns="0" rIns="0" bIns="0" rtlCol="0" anchor="t"/>
          <a:lstStyle/>
          <a:p>
            <a:pPr algn="l" indent="0" marL="0">
              <a:lnSpc>
                <a:spcPct val="108000"/>
              </a:lnSpc>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Test 1</a:t>
            </a:r>
            <a:endParaRPr lang="en-US" sz="1800" dirty="0"/>
          </a:p>
        </p:txBody>
      </p:sp>
      <p:sp>
        <p:nvSpPr>
          <p:cNvPr id="20" name="Text 18"/>
          <p:cNvSpPr/>
          <p:nvPr/>
        </p:nvSpPr>
        <p:spPr>
          <a:xfrm>
            <a:off x="5192781" y="3136801"/>
            <a:ext cx="1375435"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Verify input 1 gives output 1.</a:t>
            </a:r>
            <a:endParaRPr lang="en-US" sz="1800" dirty="0"/>
          </a:p>
        </p:txBody>
      </p:sp>
      <p:sp>
        <p:nvSpPr>
          <p:cNvPr id="21" name="Text 19"/>
          <p:cNvSpPr/>
          <p:nvPr/>
        </p:nvSpPr>
        <p:spPr>
          <a:xfrm>
            <a:off x="609585" y="4552930"/>
            <a:ext cx="5958631"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DCE1E2"/>
                </a:solidFill>
                <a:latin typeface="Fragment Mono" pitchFamily="34" charset="0"/>
                <a:ea typeface="Fragment Mono" pitchFamily="34" charset="-122"/>
                <a:cs typeface="Fragment Mono" pitchFamily="34" charset="-120"/>
              </a:rPr>
              <a:t>SCREENSHOT AREA</a:t>
            </a:r>
            <a:endParaRPr lang="en-US" sz="1200" dirty="0"/>
          </a:p>
        </p:txBody>
      </p:sp>
      <p:sp>
        <p:nvSpPr>
          <p:cNvPr id="22" name="Text 20"/>
          <p:cNvSpPr/>
          <p:nvPr/>
        </p:nvSpPr>
        <p:spPr>
          <a:xfrm>
            <a:off x="609585" y="4955441"/>
            <a:ext cx="5958631" cy="396180"/>
          </a:xfrm>
          <a:prstGeom prst="rect">
            <a:avLst/>
          </a:prstGeom>
          <a:noFill/>
          <a:ln/>
        </p:spPr>
        <p:txBody>
          <a:bodyPr wrap="none" lIns="0" tIns="0" rIns="0" bIns="0" rtlCol="0" anchor="t"/>
          <a:lstStyle/>
          <a:p>
            <a:pPr algn="l" indent="0" marL="0">
              <a:lnSpc>
                <a:spcPct val="108000"/>
              </a:lnSpc>
              <a:buNone/>
            </a:pPr>
            <a:r>
              <a:rPr lang="en-US" sz="2400" dirty="0">
                <a:solidFill>
                  <a:srgbClr val="F1F3F3"/>
                </a:solidFill>
                <a:latin typeface="Atkinson Hyperlegible Next" pitchFamily="34" charset="0"/>
                <a:ea typeface="Atkinson Hyperlegible Next" pitchFamily="34" charset="-122"/>
                <a:cs typeface="Atkinson Hyperlegible Next" pitchFamily="34" charset="-120"/>
              </a:rPr>
              <a:t>Actual Logisim simulation</a:t>
            </a:r>
            <a:endParaRPr lang="en-US" sz="2400" dirty="0"/>
          </a:p>
        </p:txBody>
      </p:sp>
      <p:sp>
        <p:nvSpPr>
          <p:cNvPr id="23" name="Text 21"/>
          <p:cNvSpPr/>
          <p:nvPr/>
        </p:nvSpPr>
        <p:spPr>
          <a:xfrm>
            <a:off x="609585" y="5515769"/>
            <a:ext cx="5958631"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Leave this space for the circuit screenshot and test-state captures.</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025305" y="2198291"/>
          <a:ext cx="4556805" cy="914400"/>
        </p:xfrm>
        <a:graphic>
          <a:graphicData uri="http://schemas.openxmlformats.org/drawingml/2006/table">
            <a:tbl>
              <a:tblPr/>
              <a:tblGrid>
                <a:gridCol w="999009"/>
                <a:gridCol w="1317890"/>
                <a:gridCol w="2239907"/>
              </a:tblGrid>
              <a:tr h="835401">
                <a:tc>
                  <a:txBody>
                    <a:bodyPr/>
                    <a:lstStyle/>
                    <a:p>
                      <a:pPr algn="l" indent="0" marL="0">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Input D</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Expected L</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F1F3F3"/>
                          </a:solidFill>
                          <a:latin typeface="Atkinson Hyperlegible Next" pitchFamily="34" charset="0"/>
                          <a:ea typeface="Atkinson Hyperlegible Next" pitchFamily="34" charset="-122"/>
                          <a:cs typeface="Atkinson Hyperlegible Next" pitchFamily="34" charset="-120"/>
                        </a:rPr>
                        <a:t>Meaning</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r>
              <a:tr h="515429">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0</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0</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Bright: light OFF</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4A5154"/>
                      </a:solidFill>
                      <a:prstDash val="solid"/>
                      <a:round/>
                      <a:headEnd type="none" w="med" len="med"/>
                      <a:tailEnd type="none" w="med" len="med"/>
                    </a:lnB>
                  </a:tcPr>
                </a:tc>
              </a:tr>
              <a:tr h="502729">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1</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1</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algn="l" indent="0" marL="0">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Dark: light ON</a:t>
                      </a:r>
                      <a:endParaRPr lang="en-US" sz="1800" dirty="0">
                        <a:latin typeface="Atkinson Hyperlegible Next" charset="0"/>
                        <a:ea typeface="Atkinson Hyperlegible Next" charset="0"/>
                        <a:cs typeface="Atkinson Hyperlegible Next" charset="0"/>
                      </a:endParaRPr>
                    </a:p>
                  </a:txBody>
                  <a:tcPr marL="171446" marR="171446" marT="91438" marB="9143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4A515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r>
            </a:tbl>
          </a:graphicData>
        </a:graphic>
      </p:graphicFrame>
      <p:sp>
        <p:nvSpPr>
          <p:cNvPr id="25" name="Shape 22"/>
          <p:cNvSpPr/>
          <p:nvPr/>
        </p:nvSpPr>
        <p:spPr>
          <a:xfrm>
            <a:off x="7025305" y="4280495"/>
            <a:ext cx="4556805" cy="1531441"/>
          </a:xfrm>
          <a:prstGeom prst="roundRect">
            <a:avLst>
              <a:gd name="adj" fmla="val 2239"/>
            </a:avLst>
          </a:prstGeom>
          <a:solidFill>
            <a:srgbClr val="4B3F02"/>
          </a:solidFill>
          <a:ln/>
        </p:spPr>
      </p:sp>
      <p:sp>
        <p:nvSpPr>
          <p:cNvPr id="26" name="Text 23"/>
          <p:cNvSpPr/>
          <p:nvPr/>
        </p:nvSpPr>
        <p:spPr>
          <a:xfrm>
            <a:off x="7253900" y="4566245"/>
            <a:ext cx="4099616"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Logisim demonstrates the digital logic model. It does not directly simulate the physical LDR resistance change.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28594" y="228600"/>
            <a:ext cx="11963101"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9DA6A8"/>
                </a:solidFill>
                <a:latin typeface="Fragment Mono" pitchFamily="34" charset="0"/>
                <a:ea typeface="Fragment Mono" pitchFamily="34" charset="-122"/>
                <a:cs typeface="Fragment Mono" pitchFamily="34" charset="-120"/>
              </a:rPr>
              <a:t>APPLICATIONS</a:t>
            </a:r>
            <a:endParaRPr lang="en-US" sz="1200" dirty="0"/>
          </a:p>
        </p:txBody>
      </p:sp>
      <p:sp>
        <p:nvSpPr>
          <p:cNvPr id="3" name="Text 1"/>
          <p:cNvSpPr/>
          <p:nvPr/>
        </p:nvSpPr>
        <p:spPr>
          <a:xfrm>
            <a:off x="228594" y="530523"/>
            <a:ext cx="11734506" cy="558800"/>
          </a:xfrm>
          <a:prstGeom prst="rect">
            <a:avLst/>
          </a:prstGeom>
          <a:noFill/>
          <a:ln/>
        </p:spPr>
        <p:txBody>
          <a:bodyPr wrap="none" lIns="0" tIns="0" rIns="0" bIns="0" rtlCol="0" anchor="t"/>
          <a:lstStyle/>
          <a:p>
            <a:pPr algn="l" indent="0" marL="0">
              <a:lnSpc>
                <a:spcPct val="83000"/>
              </a:lnSpc>
              <a:buNone/>
            </a:pPr>
            <a:r>
              <a:rPr lang="en-US" sz="4400" b="1" spc="-44" kern="100" dirty="0">
                <a:solidFill>
                  <a:srgbClr val="F1F3F3"/>
                </a:solidFill>
                <a:latin typeface="Sofia Sans Condensed Bold" pitchFamily="34" charset="0"/>
                <a:ea typeface="Sofia Sans Condensed Bold" pitchFamily="34" charset="-122"/>
                <a:cs typeface="Sofia Sans Condensed Bold" pitchFamily="34" charset="-120"/>
              </a:rPr>
              <a:t>Simple automation can scale to real spaces</a:t>
            </a:r>
            <a:endParaRPr lang="en-US" sz="4400" dirty="0"/>
          </a:p>
        </p:txBody>
      </p:sp>
      <p:sp>
        <p:nvSpPr>
          <p:cNvPr id="4" name="Text 2"/>
          <p:cNvSpPr/>
          <p:nvPr/>
        </p:nvSpPr>
        <p:spPr>
          <a:xfrm>
            <a:off x="228594" y="1290935"/>
            <a:ext cx="11963101" cy="319980"/>
          </a:xfrm>
          <a:prstGeom prst="rect">
            <a:avLst/>
          </a:prstGeom>
          <a:noFill/>
          <a:ln/>
        </p:spPr>
        <p:txBody>
          <a:bodyPr wrap="none" lIns="0" tIns="0" rIns="0" bIns="0" rtlCol="0" anchor="t"/>
          <a:lstStyle/>
          <a:p>
            <a:pPr algn="l" indent="0" marL="0">
              <a:lnSpc>
                <a:spcPct val="117000"/>
              </a:lnSpc>
              <a:buNone/>
            </a:pPr>
            <a:r>
              <a:rPr lang="en-US" sz="1800" dirty="0">
                <a:solidFill>
                  <a:srgbClr val="DCE1E2"/>
                </a:solidFill>
                <a:latin typeface="Atkinson Hyperlegible Next" pitchFamily="34" charset="0"/>
                <a:ea typeface="Atkinson Hyperlegible Next" pitchFamily="34" charset="-122"/>
                <a:cs typeface="Atkinson Hyperlegible Next" pitchFamily="34" charset="-120"/>
              </a:rPr>
              <a:t>The same sensing-and-switching idea can support many lighting environments.</a:t>
            </a:r>
            <a:endParaRPr lang="en-US" sz="1800" dirty="0"/>
          </a:p>
        </p:txBody>
      </p:sp>
      <p:sp>
        <p:nvSpPr>
          <p:cNvPr id="5" name="Shape 3"/>
          <p:cNvSpPr/>
          <p:nvPr/>
        </p:nvSpPr>
        <p:spPr>
          <a:xfrm>
            <a:off x="228594" y="1788716"/>
            <a:ext cx="2705032" cy="3360539"/>
          </a:xfrm>
          <a:prstGeom prst="rect">
            <a:avLst/>
          </a:prstGeom>
          <a:solidFill>
            <a:srgbClr val="4A5154"/>
          </a:solidFill>
          <a:ln/>
        </p:spPr>
      </p:sp>
      <p:pic>
        <p:nvPicPr>
          <p:cNvPr id="6" name="Image 0" descr="preencoded.png">    </p:cNvPr>
          <p:cNvPicPr>
            <a:picLocks noChangeAspect="1"/>
          </p:cNvPicPr>
          <p:nvPr/>
        </p:nvPicPr>
        <p:blipFill>
          <a:blip r:embed="rId1"/>
          <a:stretch>
            <a:fillRect/>
          </a:stretch>
        </p:blipFill>
        <p:spPr>
          <a:xfrm>
            <a:off x="380990" y="1941116"/>
            <a:ext cx="1968451" cy="1107182"/>
          </a:xfrm>
          <a:prstGeom prst="rect">
            <a:avLst/>
          </a:prstGeom>
        </p:spPr>
      </p:pic>
      <p:sp>
        <p:nvSpPr>
          <p:cNvPr id="7" name="Text 4"/>
          <p:cNvSpPr/>
          <p:nvPr/>
        </p:nvSpPr>
        <p:spPr>
          <a:xfrm>
            <a:off x="380990" y="3256578"/>
            <a:ext cx="2400240"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Roads</a:t>
            </a:r>
            <a:endParaRPr lang="en-US" sz="1800" dirty="0"/>
          </a:p>
        </p:txBody>
      </p:sp>
      <p:sp>
        <p:nvSpPr>
          <p:cNvPr id="8" name="Text 5"/>
          <p:cNvSpPr/>
          <p:nvPr/>
        </p:nvSpPr>
        <p:spPr>
          <a:xfrm>
            <a:off x="380990" y="3716933"/>
            <a:ext cx="2400240" cy="1279922"/>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Automatic operation reduces manual effort and unnecessary daytime lighting.</a:t>
            </a:r>
            <a:endParaRPr lang="en-US" sz="1800" dirty="0"/>
          </a:p>
        </p:txBody>
      </p:sp>
      <p:sp>
        <p:nvSpPr>
          <p:cNvPr id="9" name="Shape 6"/>
          <p:cNvSpPr/>
          <p:nvPr/>
        </p:nvSpPr>
        <p:spPr>
          <a:xfrm>
            <a:off x="3238419" y="1788716"/>
            <a:ext cx="2705032" cy="3360539"/>
          </a:xfrm>
          <a:prstGeom prst="rect">
            <a:avLst/>
          </a:prstGeom>
          <a:solidFill>
            <a:srgbClr val="4A5154"/>
          </a:solidFill>
          <a:ln/>
        </p:spPr>
      </p:sp>
      <p:pic>
        <p:nvPicPr>
          <p:cNvPr id="10" name="Image 1" descr="preencoded.png">    </p:cNvPr>
          <p:cNvPicPr>
            <a:picLocks noChangeAspect="1"/>
          </p:cNvPicPr>
          <p:nvPr/>
        </p:nvPicPr>
        <p:blipFill>
          <a:blip r:embed="rId2"/>
          <a:stretch>
            <a:fillRect/>
          </a:stretch>
        </p:blipFill>
        <p:spPr>
          <a:xfrm>
            <a:off x="3390815" y="1941116"/>
            <a:ext cx="1968451" cy="1107182"/>
          </a:xfrm>
          <a:prstGeom prst="rect">
            <a:avLst/>
          </a:prstGeom>
        </p:spPr>
      </p:pic>
      <p:sp>
        <p:nvSpPr>
          <p:cNvPr id="11" name="Text 7"/>
          <p:cNvSpPr/>
          <p:nvPr/>
        </p:nvSpPr>
        <p:spPr>
          <a:xfrm>
            <a:off x="3390815" y="3256578"/>
            <a:ext cx="2400240"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Highways</a:t>
            </a:r>
            <a:endParaRPr lang="en-US" sz="1800" dirty="0"/>
          </a:p>
        </p:txBody>
      </p:sp>
      <p:sp>
        <p:nvSpPr>
          <p:cNvPr id="12" name="Text 8"/>
          <p:cNvSpPr/>
          <p:nvPr/>
        </p:nvSpPr>
        <p:spPr>
          <a:xfrm>
            <a:off x="3390815" y="3716933"/>
            <a:ext cx="2400240"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The design can support lighting over longer routes.</a:t>
            </a:r>
            <a:endParaRPr lang="en-US" sz="1800" dirty="0"/>
          </a:p>
        </p:txBody>
      </p:sp>
      <p:sp>
        <p:nvSpPr>
          <p:cNvPr id="13" name="Shape 9"/>
          <p:cNvSpPr/>
          <p:nvPr/>
        </p:nvSpPr>
        <p:spPr>
          <a:xfrm>
            <a:off x="6248244" y="1788716"/>
            <a:ext cx="2705032" cy="3360539"/>
          </a:xfrm>
          <a:prstGeom prst="rect">
            <a:avLst/>
          </a:prstGeom>
          <a:solidFill>
            <a:srgbClr val="4A5154"/>
          </a:solidFill>
          <a:ln/>
        </p:spPr>
      </p:sp>
      <p:pic>
        <p:nvPicPr>
          <p:cNvPr id="14" name="Image 2" descr="preencoded.png">    </p:cNvPr>
          <p:cNvPicPr>
            <a:picLocks noChangeAspect="1"/>
          </p:cNvPicPr>
          <p:nvPr/>
        </p:nvPicPr>
        <p:blipFill>
          <a:blip r:embed="rId3"/>
          <a:stretch>
            <a:fillRect/>
          </a:stretch>
        </p:blipFill>
        <p:spPr>
          <a:xfrm>
            <a:off x="6400640" y="1941116"/>
            <a:ext cx="1968451" cy="1107182"/>
          </a:xfrm>
          <a:prstGeom prst="rect">
            <a:avLst/>
          </a:prstGeom>
        </p:spPr>
      </p:pic>
      <p:sp>
        <p:nvSpPr>
          <p:cNvPr id="15" name="Text 10"/>
          <p:cNvSpPr/>
          <p:nvPr/>
        </p:nvSpPr>
        <p:spPr>
          <a:xfrm>
            <a:off x="6400640" y="3256578"/>
            <a:ext cx="2400240"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Campuses</a:t>
            </a:r>
            <a:endParaRPr lang="en-US" sz="1800" dirty="0"/>
          </a:p>
        </p:txBody>
      </p:sp>
      <p:sp>
        <p:nvSpPr>
          <p:cNvPr id="16" name="Text 11"/>
          <p:cNvSpPr/>
          <p:nvPr/>
        </p:nvSpPr>
        <p:spPr>
          <a:xfrm>
            <a:off x="6400640" y="3716933"/>
            <a:ext cx="2400240"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Lighting can respond without constant monitoring.</a:t>
            </a:r>
            <a:endParaRPr lang="en-US" sz="1800" dirty="0"/>
          </a:p>
        </p:txBody>
      </p:sp>
      <p:sp>
        <p:nvSpPr>
          <p:cNvPr id="17" name="Shape 12"/>
          <p:cNvSpPr/>
          <p:nvPr/>
        </p:nvSpPr>
        <p:spPr>
          <a:xfrm>
            <a:off x="9258068" y="1788716"/>
            <a:ext cx="2705032" cy="3360539"/>
          </a:xfrm>
          <a:prstGeom prst="rect">
            <a:avLst/>
          </a:prstGeom>
          <a:solidFill>
            <a:srgbClr val="4A5154"/>
          </a:solidFill>
          <a:ln/>
        </p:spPr>
      </p:sp>
      <p:pic>
        <p:nvPicPr>
          <p:cNvPr id="18" name="Image 3" descr="preencoded.png">    </p:cNvPr>
          <p:cNvPicPr>
            <a:picLocks noChangeAspect="1"/>
          </p:cNvPicPr>
          <p:nvPr/>
        </p:nvPicPr>
        <p:blipFill>
          <a:blip r:embed="rId4"/>
          <a:stretch>
            <a:fillRect/>
          </a:stretch>
        </p:blipFill>
        <p:spPr>
          <a:xfrm>
            <a:off x="9410465" y="1941116"/>
            <a:ext cx="1968451" cy="1107182"/>
          </a:xfrm>
          <a:prstGeom prst="rect">
            <a:avLst/>
          </a:prstGeom>
        </p:spPr>
      </p:pic>
      <p:sp>
        <p:nvSpPr>
          <p:cNvPr id="19" name="Text 13"/>
          <p:cNvSpPr/>
          <p:nvPr/>
        </p:nvSpPr>
        <p:spPr>
          <a:xfrm>
            <a:off x="9410465" y="3256578"/>
            <a:ext cx="2400240" cy="297160"/>
          </a:xfrm>
          <a:prstGeom prst="rect">
            <a:avLst/>
          </a:prstGeom>
          <a:noFill/>
          <a:ln/>
        </p:spPr>
        <p:txBody>
          <a:bodyPr wrap="none" lIns="0" tIns="0" rIns="0" bIns="0" rtlCol="0" anchor="t"/>
          <a:lstStyle/>
          <a:p>
            <a:pPr algn="l" indent="0" marL="0">
              <a:lnSpc>
                <a:spcPct val="108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Parking areas</a:t>
            </a:r>
            <a:endParaRPr lang="en-US" sz="1800" dirty="0"/>
          </a:p>
        </p:txBody>
      </p:sp>
      <p:sp>
        <p:nvSpPr>
          <p:cNvPr id="20" name="Text 14"/>
          <p:cNvSpPr/>
          <p:nvPr/>
        </p:nvSpPr>
        <p:spPr>
          <a:xfrm>
            <a:off x="9410465" y="3716933"/>
            <a:ext cx="2400240"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Additional sensors can extend the system for smart-city lighting.</a:t>
            </a:r>
            <a:endParaRPr lang="en-US" sz="1800" dirty="0"/>
          </a:p>
        </p:txBody>
      </p:sp>
      <p:sp>
        <p:nvSpPr>
          <p:cNvPr id="21" name="Text 15"/>
          <p:cNvSpPr/>
          <p:nvPr/>
        </p:nvSpPr>
        <p:spPr>
          <a:xfrm>
            <a:off x="228594" y="6166644"/>
            <a:ext cx="11734506" cy="462756"/>
          </a:xfrm>
          <a:prstGeom prst="rect">
            <a:avLst/>
          </a:prstGeom>
          <a:noFill/>
          <a:ln/>
        </p:spPr>
        <p:txBody>
          <a:bodyPr wrap="square" lIns="0" tIns="0" rIns="0" bIns="0" rtlCol="0" anchor="t">
            <a:normAutofit/>
          </a:bodyPr>
          <a:lstStyle/>
          <a:p>
            <a:pPr algn="l" indent="0" marL="0">
              <a:lnSpc>
                <a:spcPct val="113000"/>
              </a:lnSpc>
              <a:buNone/>
            </a:pPr>
            <a:r>
              <a:rPr lang="en-US" sz="1350" dirty="0">
                <a:solidFill>
                  <a:srgbClr val="9DA6A8"/>
                </a:solidFill>
                <a:latin typeface="Atkinson Hyperlegible Next" pitchFamily="34" charset="0"/>
                <a:ea typeface="Atkinson Hyperlegible Next" pitchFamily="34" charset="-122"/>
                <a:cs typeface="Atkinson Hyperlegible Next" pitchFamily="34" charset="-120"/>
              </a:rPr>
              <a:t>A simple control mechanism supports more efficient street-light operation across roads, highways, campuses, parking areas, residential streets, and smart-city lighting.</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11182" y="508000"/>
            <a:ext cx="11378915"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FFFFFF"/>
                </a:solidFill>
                <a:latin typeface="Fragment Mono" pitchFamily="34" charset="0"/>
                <a:ea typeface="Fragment Mono" pitchFamily="34" charset="-122"/>
                <a:cs typeface="Fragment Mono" pitchFamily="34" charset="-120"/>
              </a:rPr>
              <a:t>TAKEAWAY</a:t>
            </a:r>
            <a:endParaRPr lang="en-US" sz="1200" dirty="0"/>
          </a:p>
        </p:txBody>
      </p:sp>
      <p:sp>
        <p:nvSpPr>
          <p:cNvPr id="3" name="Text 1"/>
          <p:cNvSpPr/>
          <p:nvPr/>
        </p:nvSpPr>
        <p:spPr>
          <a:xfrm>
            <a:off x="711182" y="809923"/>
            <a:ext cx="10769331" cy="558800"/>
          </a:xfrm>
          <a:prstGeom prst="rect">
            <a:avLst/>
          </a:prstGeom>
          <a:noFill/>
          <a:ln/>
        </p:spPr>
        <p:txBody>
          <a:bodyPr wrap="none" lIns="0" tIns="0" rIns="0" bIns="0" rtlCol="0" anchor="t"/>
          <a:lstStyle/>
          <a:p>
            <a:pPr algn="l" indent="0" marL="0">
              <a:lnSpc>
                <a:spcPct val="83000"/>
              </a:lnSpc>
              <a:buNone/>
            </a:pPr>
            <a:r>
              <a:rPr lang="en-US" sz="4400" b="1" spc="-44" kern="100" dirty="0">
                <a:solidFill>
                  <a:srgbClr val="FFFFFF"/>
                </a:solidFill>
                <a:latin typeface="Sofia Sans Condensed Bold" pitchFamily="34" charset="0"/>
                <a:ea typeface="Sofia Sans Condensed Bold" pitchFamily="34" charset="-122"/>
                <a:cs typeface="Sofia Sans Condensed Bold" pitchFamily="34" charset="-120"/>
              </a:rPr>
              <a:t>Automatic control is a foundation for smarter lighting</a:t>
            </a:r>
            <a:endParaRPr lang="en-US" sz="4400" dirty="0"/>
          </a:p>
        </p:txBody>
      </p:sp>
      <p:sp>
        <p:nvSpPr>
          <p:cNvPr id="4" name="Text 2"/>
          <p:cNvSpPr/>
          <p:nvPr/>
        </p:nvSpPr>
        <p:spPr>
          <a:xfrm>
            <a:off x="711182" y="1570335"/>
            <a:ext cx="5156071" cy="2186583"/>
          </a:xfrm>
          <a:prstGeom prst="rect">
            <a:avLst/>
          </a:prstGeom>
          <a:noFill/>
          <a:ln/>
        </p:spPr>
        <p:txBody>
          <a:bodyPr wrap="square" lIns="0" tIns="0" rIns="0" bIns="0" rtlCol="0" anchor="t">
            <a:normAutofit/>
          </a:bodyPr>
          <a:lstStyle/>
          <a:p>
            <a:pPr algn="l" indent="0" marL="0">
              <a:lnSpc>
                <a:spcPct val="117000"/>
              </a:lnSpc>
              <a:spcAft>
                <a:spcPts val="1000"/>
              </a:spcAft>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The LDR senses ambient conditions and informs the control circuit.</a:t>
            </a:r>
            <a:endParaRPr lang="en-US" sz="1800" dirty="0"/>
          </a:p>
          <a:p>
            <a:pPr algn="l" indent="0" marL="0">
              <a:lnSpc>
                <a:spcPct val="117000"/>
              </a:lnSpc>
              <a:spcAft>
                <a:spcPts val="1000"/>
              </a:spcAft>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The system demonstrates sensor-based automation and basic digital logic.</a:t>
            </a:r>
            <a:endParaRPr lang="en-US" sz="1800" dirty="0"/>
          </a:p>
          <a:p>
            <a:pPr algn="l" indent="0" marL="0">
              <a:lnSpc>
                <a:spcPct val="117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Automatic control can reduce unnecessary lighting and manual effort.</a:t>
            </a:r>
            <a:endParaRPr lang="en-US" sz="1800" dirty="0"/>
          </a:p>
        </p:txBody>
      </p:sp>
      <p:sp>
        <p:nvSpPr>
          <p:cNvPr id="5" name="Text 3"/>
          <p:cNvSpPr/>
          <p:nvPr/>
        </p:nvSpPr>
        <p:spPr>
          <a:xfrm>
            <a:off x="6324442" y="1573193"/>
            <a:ext cx="5156071"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FFFFFF"/>
                </a:solidFill>
                <a:latin typeface="Fragment Mono" pitchFamily="34" charset="0"/>
                <a:ea typeface="Fragment Mono" pitchFamily="34" charset="-122"/>
                <a:cs typeface="Fragment Mono" pitchFamily="34" charset="-120"/>
              </a:rPr>
              <a:t>FUTURE SCOPE</a:t>
            </a:r>
            <a:endParaRPr lang="en-US" sz="1200" dirty="0"/>
          </a:p>
        </p:txBody>
      </p:sp>
      <p:sp>
        <p:nvSpPr>
          <p:cNvPr id="6" name="Text 4"/>
          <p:cNvSpPr/>
          <p:nvPr/>
        </p:nvSpPr>
        <p:spPr>
          <a:xfrm>
            <a:off x="6324442" y="1901726"/>
            <a:ext cx="5156071" cy="1093291"/>
          </a:xfrm>
          <a:prstGeom prst="rect">
            <a:avLst/>
          </a:prstGeom>
          <a:noFill/>
          <a:ln/>
        </p:spPr>
        <p:txBody>
          <a:bodyPr wrap="square" lIns="0" tIns="0" rIns="0" bIns="0" rtlCol="0" anchor="t"/>
          <a:lstStyle/>
          <a:p>
            <a:pPr algn="l" indent="0" marL="0">
              <a:lnSpc>
                <a:spcPct val="117000"/>
              </a:lnSpc>
              <a:spcAft>
                <a:spcPts val="1000"/>
              </a:spcAft>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Solar-powered street lights.</a:t>
            </a:r>
            <a:endParaRPr lang="en-US" sz="1800" dirty="0"/>
          </a:p>
          <a:p>
            <a:pPr algn="l" indent="0" marL="0">
              <a:lnSpc>
                <a:spcPct val="117000"/>
              </a:lnSpc>
              <a:buNone/>
            </a:pPr>
            <a:r>
              <a:rPr lang="en-US" sz="1800" dirty="0">
                <a:solidFill>
                  <a:srgbClr val="FFFFFF"/>
                </a:solidFill>
                <a:latin typeface="Atkinson Hyperlegible Next" pitchFamily="34" charset="0"/>
                <a:ea typeface="Atkinson Hyperlegible Next" pitchFamily="34" charset="-122"/>
                <a:cs typeface="Atkinson Hyperlegible Next" pitchFamily="34" charset="-120"/>
              </a:rPr>
              <a:t>Motion sensors, IoT remote monitoring, and automatic brightness adjustment.</a:t>
            </a:r>
            <a:endParaRPr lang="en-US" sz="1800" dirty="0"/>
          </a:p>
        </p:txBody>
      </p:sp>
      <p:sp>
        <p:nvSpPr>
          <p:cNvPr id="7" name="Text 5"/>
          <p:cNvSpPr/>
          <p:nvPr/>
        </p:nvSpPr>
        <p:spPr>
          <a:xfrm>
            <a:off x="711182" y="5967413"/>
            <a:ext cx="10769331" cy="457200"/>
          </a:xfrm>
          <a:prstGeom prst="rect">
            <a:avLst/>
          </a:prstGeom>
          <a:noFill/>
          <a:ln/>
        </p:spPr>
        <p:txBody>
          <a:bodyPr wrap="none" lIns="0" tIns="0" rIns="0" bIns="0" rtlCol="0" anchor="t"/>
          <a:lstStyle/>
          <a:p>
            <a:pPr algn="l" indent="0" marL="0">
              <a:lnSpc>
                <a:spcPct val="83000"/>
              </a:lnSpc>
              <a:buNone/>
            </a:pPr>
            <a:r>
              <a:rPr lang="en-US" sz="3600" b="1" spc="-36" kern="100" dirty="0">
                <a:solidFill>
                  <a:srgbClr val="FFFFFF"/>
                </a:solidFill>
                <a:latin typeface="Sofia Sans Condensed Bold" pitchFamily="34" charset="0"/>
                <a:ea typeface="Sofia Sans Condensed Bold" pitchFamily="34" charset="-122"/>
                <a:cs typeface="Sofia Sans Condensed Bold" pitchFamily="34" charset="-120"/>
              </a:rPr>
              <a:t>Thank You</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2026-10-14T09:56:35Z</dcterms:created>
  <dcterms:modified xsi:type="dcterms:W3CDTF">2026-10-14T09:56:35Z</dcterms:modified>
</cp:coreProperties>
</file>